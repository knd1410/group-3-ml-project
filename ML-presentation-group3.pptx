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</p:sldIdLst>
  <p:sldSz cx="18288000" cy="10287000"/>
  <p:notesSz cx="6858000" cy="9144000"/>
  <p:embeddedFontLst>
    <p:embeddedFont>
      <p:font typeface="Comic Sans" charset="1" panose="03000702030302020204"/>
      <p:regular r:id="rId63"/>
    </p:embeddedFont>
    <p:embeddedFont>
      <p:font typeface="Inter 1" charset="1" panose="02000503000000020004"/>
      <p:regular r:id="rId64"/>
    </p:embeddedFont>
    <p:embeddedFont>
      <p:font typeface="Inter 2" charset="1" panose="020B0502030000000004"/>
      <p:regular r:id="rId65"/>
    </p:embeddedFont>
    <p:embeddedFont>
      <p:font typeface="Comic Sans Bold" charset="1" panose="03000902030302020204"/>
      <p:regular r:id="rId66"/>
    </p:embeddedFont>
    <p:embeddedFont>
      <p:font typeface="Inter 2 Bold" charset="1" panose="020B0802030000000004"/>
      <p:regular r:id="rId67"/>
    </p:embeddedFont>
    <p:embeddedFont>
      <p:font typeface="Canva Sans" charset="1" panose="020B0503030501040103"/>
      <p:regular r:id="rId68"/>
    </p:embeddedFont>
    <p:embeddedFont>
      <p:font typeface="Inter 1 Bold" charset="1" panose="02000503000000020004"/>
      <p:regular r:id="rId69"/>
    </p:embeddedFont>
    <p:embeddedFont>
      <p:font typeface="Canva Sans Bold" charset="1" panose="020B0803030501040103"/>
      <p:regular r:id="rId7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fonts/font63.fntdata" Type="http://schemas.openxmlformats.org/officeDocument/2006/relationships/font"/><Relationship Id="rId64" Target="fonts/font64.fntdata" Type="http://schemas.openxmlformats.org/officeDocument/2006/relationships/font"/><Relationship Id="rId65" Target="fonts/font65.fntdata" Type="http://schemas.openxmlformats.org/officeDocument/2006/relationships/font"/><Relationship Id="rId66" Target="fonts/font66.fntdata" Type="http://schemas.openxmlformats.org/officeDocument/2006/relationships/font"/><Relationship Id="rId67" Target="fonts/font67.fntdata" Type="http://schemas.openxmlformats.org/officeDocument/2006/relationships/font"/><Relationship Id="rId68" Target="fonts/font68.fntdata" Type="http://schemas.openxmlformats.org/officeDocument/2006/relationships/font"/><Relationship Id="rId69" Target="fonts/font69.fntdata" Type="http://schemas.openxmlformats.org/officeDocument/2006/relationships/font"/><Relationship Id="rId7" Target="slides/slide2.xml" Type="http://schemas.openxmlformats.org/officeDocument/2006/relationships/slide"/><Relationship Id="rId70" Target="fonts/font70.fntdata" Type="http://schemas.openxmlformats.org/officeDocument/2006/relationships/font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jpe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jpe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jpe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jpe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jpe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0587" y="770817"/>
            <a:ext cx="8487483" cy="8487483"/>
          </a:xfrm>
          <a:custGeom>
            <a:avLst/>
            <a:gdLst/>
            <a:ahLst/>
            <a:cxnLst/>
            <a:rect r="r" b="b" t="t" l="l"/>
            <a:pathLst>
              <a:path h="8487483" w="8487483">
                <a:moveTo>
                  <a:pt x="0" y="0"/>
                </a:moveTo>
                <a:lnTo>
                  <a:pt x="8487483" y="0"/>
                </a:lnTo>
                <a:lnTo>
                  <a:pt x="8487483" y="8487483"/>
                </a:lnTo>
                <a:lnTo>
                  <a:pt x="0" y="84874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2161405"/>
            <a:ext cx="18239875" cy="5506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54"/>
              </a:lnSpc>
            </a:pPr>
            <a:r>
              <a:rPr lang="en-US" sz="10467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Movie Reviews</a:t>
            </a:r>
          </a:p>
          <a:p>
            <a:pPr algn="ctr">
              <a:lnSpc>
                <a:spcPts val="14654"/>
              </a:lnSpc>
            </a:pPr>
            <a:r>
              <a:rPr lang="en-US" sz="10467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Analysis</a:t>
            </a:r>
          </a:p>
          <a:p>
            <a:pPr algn="ctr">
              <a:lnSpc>
                <a:spcPts val="14654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462337" y="6096000"/>
            <a:ext cx="7315200" cy="752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4"/>
              </a:lnSpc>
            </a:pPr>
            <a:r>
              <a:rPr lang="en-US" sz="448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Group 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48098" y="7294943"/>
            <a:ext cx="10979944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Nguyễn Minh Hoàng , Nguyễn Xuân Dương, Nguyễn Đăng Khôi, Vũ Trần Nam Khánh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83553" y="4114800"/>
            <a:ext cx="8920895" cy="2854988"/>
            <a:chOff x="0" y="0"/>
            <a:chExt cx="2349536" cy="7519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49536" cy="751931"/>
            </a:xfrm>
            <a:custGeom>
              <a:avLst/>
              <a:gdLst/>
              <a:ahLst/>
              <a:cxnLst/>
              <a:rect r="r" b="b" t="t" l="l"/>
              <a:pathLst>
                <a:path h="751931" w="2349536">
                  <a:moveTo>
                    <a:pt x="0" y="0"/>
                  </a:moveTo>
                  <a:lnTo>
                    <a:pt x="2349536" y="0"/>
                  </a:lnTo>
                  <a:lnTo>
                    <a:pt x="2349536" y="751931"/>
                  </a:lnTo>
                  <a:lnTo>
                    <a:pt x="0" y="751931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49536" cy="790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737873">
            <a:off x="71034" y="866874"/>
            <a:ext cx="2374223" cy="2692418"/>
          </a:xfrm>
          <a:custGeom>
            <a:avLst/>
            <a:gdLst/>
            <a:ahLst/>
            <a:cxnLst/>
            <a:rect r="r" b="b" t="t" l="l"/>
            <a:pathLst>
              <a:path h="2692418" w="2374223">
                <a:moveTo>
                  <a:pt x="0" y="0"/>
                </a:moveTo>
                <a:lnTo>
                  <a:pt x="2374223" y="0"/>
                </a:lnTo>
                <a:lnTo>
                  <a:pt x="2374223" y="2692418"/>
                </a:lnTo>
                <a:lnTo>
                  <a:pt x="0" y="2692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548681">
            <a:off x="14560070" y="6901896"/>
            <a:ext cx="2267675" cy="2057400"/>
          </a:xfrm>
          <a:custGeom>
            <a:avLst/>
            <a:gdLst/>
            <a:ahLst/>
            <a:cxnLst/>
            <a:rect r="r" b="b" t="t" l="l"/>
            <a:pathLst>
              <a:path h="2057400" w="2267675">
                <a:moveTo>
                  <a:pt x="0" y="0"/>
                </a:moveTo>
                <a:lnTo>
                  <a:pt x="2267676" y="0"/>
                </a:lnTo>
                <a:lnTo>
                  <a:pt x="2267676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551710">
            <a:off x="980436" y="7054800"/>
            <a:ext cx="3033522" cy="2349601"/>
          </a:xfrm>
          <a:custGeom>
            <a:avLst/>
            <a:gdLst/>
            <a:ahLst/>
            <a:cxnLst/>
            <a:rect r="r" b="b" t="t" l="l"/>
            <a:pathLst>
              <a:path h="2349601" w="3033522">
                <a:moveTo>
                  <a:pt x="0" y="0"/>
                </a:moveTo>
                <a:lnTo>
                  <a:pt x="3033522" y="0"/>
                </a:lnTo>
                <a:lnTo>
                  <a:pt x="3033522" y="2349600"/>
                </a:lnTo>
                <a:lnTo>
                  <a:pt x="0" y="234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14141">
            <a:off x="16056547" y="567576"/>
            <a:ext cx="1725610" cy="2750973"/>
          </a:xfrm>
          <a:custGeom>
            <a:avLst/>
            <a:gdLst/>
            <a:ahLst/>
            <a:cxnLst/>
            <a:rect r="r" b="b" t="t" l="l"/>
            <a:pathLst>
              <a:path h="2750973" w="1725610">
                <a:moveTo>
                  <a:pt x="0" y="0"/>
                </a:moveTo>
                <a:lnTo>
                  <a:pt x="1725611" y="0"/>
                </a:lnTo>
                <a:lnTo>
                  <a:pt x="1725611" y="2750973"/>
                </a:lnTo>
                <a:lnTo>
                  <a:pt x="0" y="27509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790575"/>
            <a:ext cx="16230600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Table Of Content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83553" y="4358012"/>
            <a:ext cx="4852187" cy="242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8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Preprocessing</a:t>
            </a:r>
          </a:p>
          <a:p>
            <a:pPr algn="l" marL="647700" indent="-323850" lvl="1">
              <a:lnSpc>
                <a:spcPts val="48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Baseline model</a:t>
            </a:r>
          </a:p>
          <a:p>
            <a:pPr algn="l" marL="647700" indent="-323850" lvl="1">
              <a:lnSpc>
                <a:spcPts val="48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Error analyss</a:t>
            </a:r>
          </a:p>
          <a:p>
            <a:pPr algn="l" marL="647700" indent="-323850" lvl="1">
              <a:lnSpc>
                <a:spcPts val="48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Improvement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79182" y="4438276"/>
            <a:ext cx="4166553" cy="2256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5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Nguyễn Đăng Khôi </a:t>
            </a:r>
          </a:p>
          <a:p>
            <a:pPr algn="l" marL="604519" indent="-302260" lvl="1">
              <a:lnSpc>
                <a:spcPts val="45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Nguyễn Xuân Dương </a:t>
            </a:r>
          </a:p>
          <a:p>
            <a:pPr algn="l" marL="604519" indent="-302260" lvl="1">
              <a:lnSpc>
                <a:spcPts val="45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Nguyễn Minh Hoàng </a:t>
            </a:r>
          </a:p>
          <a:p>
            <a:pPr algn="l" marL="604519" indent="-302260" lvl="1">
              <a:lnSpc>
                <a:spcPts val="45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Vũ Trần Nam Khánh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11672" y="2857463"/>
            <a:ext cx="13915006" cy="1683731"/>
            <a:chOff x="0" y="0"/>
            <a:chExt cx="3664858" cy="4434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64858" cy="443452"/>
            </a:xfrm>
            <a:custGeom>
              <a:avLst/>
              <a:gdLst/>
              <a:ahLst/>
              <a:cxnLst/>
              <a:rect r="r" b="b" t="t" l="l"/>
              <a:pathLst>
                <a:path h="443452" w="3664858">
                  <a:moveTo>
                    <a:pt x="0" y="0"/>
                  </a:moveTo>
                  <a:lnTo>
                    <a:pt x="3664858" y="0"/>
                  </a:lnTo>
                  <a:lnTo>
                    <a:pt x="3664858" y="443452"/>
                  </a:lnTo>
                  <a:lnTo>
                    <a:pt x="0" y="44345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664858" cy="481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71498" y="342863"/>
            <a:ext cx="15545005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b="true" sz="12000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Introduce Dataset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011672" y="4501991"/>
            <a:ext cx="13915006" cy="3996396"/>
            <a:chOff x="0" y="0"/>
            <a:chExt cx="3664858" cy="10525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64858" cy="1052549"/>
            </a:xfrm>
            <a:custGeom>
              <a:avLst/>
              <a:gdLst/>
              <a:ahLst/>
              <a:cxnLst/>
              <a:rect r="r" b="b" t="t" l="l"/>
              <a:pathLst>
                <a:path h="1052549" w="3664858">
                  <a:moveTo>
                    <a:pt x="0" y="0"/>
                  </a:moveTo>
                  <a:lnTo>
                    <a:pt x="3664858" y="0"/>
                  </a:lnTo>
                  <a:lnTo>
                    <a:pt x="3664858" y="1052549"/>
                  </a:lnTo>
                  <a:lnTo>
                    <a:pt x="0" y="1052549"/>
                  </a:lnTo>
                  <a:close/>
                </a:path>
              </a:pathLst>
            </a:custGeom>
            <a:solidFill>
              <a:srgbClr val="F0EFE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664858" cy="1090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357546" y="4726940"/>
            <a:ext cx="6127670" cy="350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Name: IMDB Dataset of 50K Movie Reviews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Size: 50K row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2 column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Review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Sentiment </a:t>
            </a:r>
          </a:p>
          <a:p>
            <a:pPr algn="l">
              <a:lnSpc>
                <a:spcPts val="238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454950" y="4882833"/>
            <a:ext cx="6127670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Input: Review (A raw text string)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Output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0: Negative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1</a:t>
            </a:r>
            <a:r>
              <a:rPr lang="en-US" sz="3000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: Positive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180947" y="3428311"/>
            <a:ext cx="6127670" cy="62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6"/>
              </a:lnSpc>
            </a:pPr>
            <a:r>
              <a:rPr lang="en-US" b="true" sz="4699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DATASET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54950" y="3408630"/>
            <a:ext cx="6127670" cy="62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6"/>
              </a:lnSpc>
            </a:pPr>
            <a:r>
              <a:rPr lang="en-US" b="true" sz="4699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MISSION</a:t>
            </a:r>
          </a:p>
        </p:txBody>
      </p:sp>
      <p:sp>
        <p:nvSpPr>
          <p:cNvPr name="AutoShape 13" id="13"/>
          <p:cNvSpPr/>
          <p:nvPr/>
        </p:nvSpPr>
        <p:spPr>
          <a:xfrm flipH="true" flipV="true">
            <a:off x="8969175" y="2857463"/>
            <a:ext cx="0" cy="564092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82807" y="3686433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65652" y="3336221"/>
            <a:ext cx="9656973" cy="4254732"/>
            <a:chOff x="0" y="0"/>
            <a:chExt cx="3279430" cy="14448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79430" cy="1444873"/>
            </a:xfrm>
            <a:custGeom>
              <a:avLst/>
              <a:gdLst/>
              <a:ahLst/>
              <a:cxnLst/>
              <a:rect r="r" b="b" t="t" l="l"/>
              <a:pathLst>
                <a:path h="1444873" w="3279430">
                  <a:moveTo>
                    <a:pt x="0" y="0"/>
                  </a:moveTo>
                  <a:lnTo>
                    <a:pt x="3279430" y="0"/>
                  </a:lnTo>
                  <a:lnTo>
                    <a:pt x="3279430" y="1444873"/>
                  </a:lnTo>
                  <a:lnTo>
                    <a:pt x="0" y="1444873"/>
                  </a:lnTo>
                  <a:close/>
                </a:path>
              </a:pathLst>
            </a:custGeom>
            <a:solidFill>
              <a:srgbClr val="F0EFE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279430" cy="1482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754332" y="4352925"/>
            <a:ext cx="11056950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0"/>
              </a:lnSpc>
            </a:pPr>
            <a:r>
              <a:rPr lang="en-US" sz="900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Preprocessing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12176" y="6016523"/>
            <a:ext cx="10010172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Nguyễn Đăng Khôi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74648"/>
            <a:ext cx="11900853" cy="1184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PREPROCESSING PIPELINE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67833" y="2410917"/>
            <a:ext cx="6461919" cy="2410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19"/>
              </a:lnSpc>
              <a:spcBef>
                <a:spcPct val="0"/>
              </a:spcBef>
            </a:pPr>
          </a:p>
          <a:p>
            <a:pPr algn="l">
              <a:lnSpc>
                <a:spcPts val="651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Special Character Removal</a:t>
            </a:r>
          </a:p>
          <a:p>
            <a:pPr algn="l">
              <a:lnSpc>
                <a:spcPts val="651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930431" y="2093934"/>
            <a:ext cx="3691096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HTML Cleaning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31837" y="4557301"/>
            <a:ext cx="3027997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Lowercasing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15310" y="5904402"/>
            <a:ext cx="3034506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Tokenization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67833" y="6937206"/>
            <a:ext cx="4501991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Stopword Removal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9991" y="8153400"/>
            <a:ext cx="352393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Lemmatization</a:t>
            </a:r>
          </a:p>
        </p:txBody>
      </p:sp>
      <p:sp>
        <p:nvSpPr>
          <p:cNvPr name="Freeform 9" id="9"/>
          <p:cNvSpPr/>
          <p:nvPr/>
        </p:nvSpPr>
        <p:spPr>
          <a:xfrm>
            <a:off x="1930431" y="2887836"/>
            <a:ext cx="7568361" cy="1226964"/>
          </a:xfrm>
          <a:custGeom>
            <a:avLst/>
            <a:gdLst/>
            <a:ahLst/>
            <a:cxnLst/>
            <a:rect r="r" b="b" t="t" l="l"/>
            <a:pathLst>
              <a:path h="1226964" w="7568361">
                <a:moveTo>
                  <a:pt x="0" y="0"/>
                </a:moveTo>
                <a:lnTo>
                  <a:pt x="3884161" y="0"/>
                </a:lnTo>
                <a:cubicBezTo>
                  <a:pt x="3944790" y="0"/>
                  <a:pt x="4002935" y="24084"/>
                  <a:pt x="4045806" y="66955"/>
                </a:cubicBezTo>
                <a:cubicBezTo>
                  <a:pt x="4088677" y="109826"/>
                  <a:pt x="4112761" y="167971"/>
                  <a:pt x="4112761" y="228600"/>
                </a:cubicBezTo>
                <a:lnTo>
                  <a:pt x="4112761" y="998364"/>
                </a:lnTo>
                <a:cubicBezTo>
                  <a:pt x="4112761" y="1058992"/>
                  <a:pt x="4136846" y="1117138"/>
                  <a:pt x="4179717" y="1160009"/>
                </a:cubicBezTo>
                <a:cubicBezTo>
                  <a:pt x="4222588" y="1202879"/>
                  <a:pt x="4280733" y="1226964"/>
                  <a:pt x="4341361" y="1226964"/>
                </a:cubicBezTo>
                <a:lnTo>
                  <a:pt x="7568361" y="1226964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>
            <a:off x="9992457" y="4143578"/>
            <a:ext cx="7172144" cy="1217730"/>
          </a:xfrm>
          <a:custGeom>
            <a:avLst/>
            <a:gdLst/>
            <a:ahLst/>
            <a:cxnLst/>
            <a:rect r="r" b="b" t="t" l="l"/>
            <a:pathLst>
              <a:path h="1217730" w="7172144">
                <a:moveTo>
                  <a:pt x="0" y="0"/>
                </a:moveTo>
                <a:lnTo>
                  <a:pt x="3044180" y="0"/>
                </a:lnTo>
                <a:cubicBezTo>
                  <a:pt x="3104809" y="0"/>
                  <a:pt x="3162954" y="24085"/>
                  <a:pt x="3205824" y="66955"/>
                </a:cubicBezTo>
                <a:cubicBezTo>
                  <a:pt x="3248696" y="109826"/>
                  <a:pt x="3272780" y="167972"/>
                  <a:pt x="3272780" y="228600"/>
                </a:cubicBezTo>
                <a:lnTo>
                  <a:pt x="3272780" y="989130"/>
                </a:lnTo>
                <a:cubicBezTo>
                  <a:pt x="3272780" y="1049758"/>
                  <a:pt x="3296865" y="1107903"/>
                  <a:pt x="3339735" y="1150774"/>
                </a:cubicBezTo>
                <a:cubicBezTo>
                  <a:pt x="3382606" y="1193645"/>
                  <a:pt x="3440751" y="1217730"/>
                  <a:pt x="3501380" y="1217730"/>
                </a:cubicBezTo>
                <a:lnTo>
                  <a:pt x="7172143" y="121773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>
            <a:off x="12396064" y="5361308"/>
            <a:ext cx="5683639" cy="1380234"/>
          </a:xfrm>
          <a:custGeom>
            <a:avLst/>
            <a:gdLst/>
            <a:ahLst/>
            <a:cxnLst/>
            <a:rect r="r" b="b" t="t" l="l"/>
            <a:pathLst>
              <a:path h="1380234" w="5683639">
                <a:moveTo>
                  <a:pt x="0" y="1380234"/>
                </a:moveTo>
                <a:lnTo>
                  <a:pt x="5455039" y="1380234"/>
                </a:lnTo>
                <a:cubicBezTo>
                  <a:pt x="5581291" y="1380234"/>
                  <a:pt x="5683639" y="1277886"/>
                  <a:pt x="5683639" y="1151634"/>
                </a:cubicBezTo>
                <a:lnTo>
                  <a:pt x="5683639" y="228600"/>
                </a:lnTo>
                <a:cubicBezTo>
                  <a:pt x="5683639" y="167971"/>
                  <a:pt x="5659555" y="109826"/>
                  <a:pt x="5616683" y="66955"/>
                </a:cubicBezTo>
                <a:cubicBezTo>
                  <a:pt x="5573813" y="24084"/>
                  <a:pt x="5515667" y="0"/>
                  <a:pt x="5455039" y="0"/>
                </a:cubicBezTo>
                <a:lnTo>
                  <a:pt x="5101877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>
            <a:off x="7331859" y="6737241"/>
            <a:ext cx="4843367" cy="1079430"/>
          </a:xfrm>
          <a:custGeom>
            <a:avLst/>
            <a:gdLst/>
            <a:ahLst/>
            <a:cxnLst/>
            <a:rect r="r" b="b" t="t" l="l"/>
            <a:pathLst>
              <a:path h="1079430" w="4843367">
                <a:moveTo>
                  <a:pt x="0" y="1079431"/>
                </a:moveTo>
                <a:lnTo>
                  <a:pt x="3820607" y="1079431"/>
                </a:lnTo>
                <a:cubicBezTo>
                  <a:pt x="3881236" y="1079431"/>
                  <a:pt x="3939381" y="1055346"/>
                  <a:pt x="3982251" y="1012475"/>
                </a:cubicBezTo>
                <a:cubicBezTo>
                  <a:pt x="4025122" y="969605"/>
                  <a:pt x="4049207" y="911460"/>
                  <a:pt x="4049207" y="850831"/>
                </a:cubicBezTo>
                <a:lnTo>
                  <a:pt x="4049207" y="228600"/>
                </a:lnTo>
                <a:cubicBezTo>
                  <a:pt x="4049207" y="102348"/>
                  <a:pt x="4151555" y="0"/>
                  <a:pt x="4277807" y="0"/>
                </a:cubicBezTo>
                <a:lnTo>
                  <a:pt x="4843368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>
            <a:off x="1028700" y="7805704"/>
            <a:ext cx="5950427" cy="1155521"/>
          </a:xfrm>
          <a:custGeom>
            <a:avLst/>
            <a:gdLst/>
            <a:ahLst/>
            <a:cxnLst/>
            <a:rect r="r" b="b" t="t" l="l"/>
            <a:pathLst>
              <a:path h="1155521" w="5950427">
                <a:moveTo>
                  <a:pt x="0" y="1155521"/>
                </a:moveTo>
                <a:lnTo>
                  <a:pt x="3884089" y="1155521"/>
                </a:lnTo>
                <a:cubicBezTo>
                  <a:pt x="4010342" y="1155521"/>
                  <a:pt x="4112689" y="1053173"/>
                  <a:pt x="4112689" y="926921"/>
                </a:cubicBezTo>
                <a:lnTo>
                  <a:pt x="4112689" y="228600"/>
                </a:lnTo>
                <a:cubicBezTo>
                  <a:pt x="4112689" y="102348"/>
                  <a:pt x="4215037" y="0"/>
                  <a:pt x="4341289" y="0"/>
                </a:cubicBezTo>
                <a:lnTo>
                  <a:pt x="5950427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41541" y="2830164"/>
            <a:ext cx="9604918" cy="5399436"/>
            <a:chOff x="0" y="0"/>
            <a:chExt cx="1488053" cy="8365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8053" cy="836514"/>
            </a:xfrm>
            <a:custGeom>
              <a:avLst/>
              <a:gdLst/>
              <a:ahLst/>
              <a:cxnLst/>
              <a:rect r="r" b="b" t="t" l="l"/>
              <a:pathLst>
                <a:path h="836514" w="1488053">
                  <a:moveTo>
                    <a:pt x="0" y="0"/>
                  </a:moveTo>
                  <a:lnTo>
                    <a:pt x="1488053" y="0"/>
                  </a:lnTo>
                  <a:lnTo>
                    <a:pt x="1488053" y="836514"/>
                  </a:lnTo>
                  <a:lnTo>
                    <a:pt x="0" y="836514"/>
                  </a:lnTo>
                  <a:close/>
                </a:path>
              </a:pathLst>
            </a:custGeom>
            <a:blipFill>
              <a:blip r:embed="rId2"/>
              <a:stretch>
                <a:fillRect l="0" t="-4996" r="0" b="-107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-731772" y="335280"/>
            <a:ext cx="9875772" cy="114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8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HTML Cleaning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32672" y="1635915"/>
            <a:ext cx="10716419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34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Remove all HTML</a:t>
            </a:r>
            <a:r>
              <a:rPr lang="en-US" sz="4500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tags from raw review.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09667" y="2940974"/>
            <a:ext cx="12868665" cy="5667972"/>
            <a:chOff x="0" y="0"/>
            <a:chExt cx="1993693" cy="8781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3693" cy="878117"/>
            </a:xfrm>
            <a:custGeom>
              <a:avLst/>
              <a:gdLst/>
              <a:ahLst/>
              <a:cxnLst/>
              <a:rect r="r" b="b" t="t" l="l"/>
              <a:pathLst>
                <a:path h="878117" w="1993693">
                  <a:moveTo>
                    <a:pt x="0" y="0"/>
                  </a:moveTo>
                  <a:lnTo>
                    <a:pt x="1993693" y="0"/>
                  </a:lnTo>
                  <a:lnTo>
                    <a:pt x="1993693" y="878117"/>
                  </a:lnTo>
                  <a:lnTo>
                    <a:pt x="0" y="878117"/>
                  </a:lnTo>
                  <a:close/>
                </a:path>
              </a:pathLst>
            </a:custGeom>
            <a:blipFill>
              <a:blip r:embed="rId2"/>
              <a:stretch>
                <a:fillRect l="-543" t="0" r="-54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33994" y="335280"/>
            <a:ext cx="15089057" cy="114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8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Special Character Removal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1761771"/>
            <a:ext cx="16357045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34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Remove special ch</a:t>
            </a:r>
            <a:r>
              <a:rPr lang="en-US" sz="4500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aracters, keep only letters.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56819" y="2876824"/>
            <a:ext cx="8574362" cy="4533352"/>
            <a:chOff x="0" y="0"/>
            <a:chExt cx="1660867" cy="8781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0867" cy="878117"/>
            </a:xfrm>
            <a:custGeom>
              <a:avLst/>
              <a:gdLst/>
              <a:ahLst/>
              <a:cxnLst/>
              <a:rect r="r" b="b" t="t" l="l"/>
              <a:pathLst>
                <a:path h="878117" w="1660867">
                  <a:moveTo>
                    <a:pt x="0" y="0"/>
                  </a:moveTo>
                  <a:lnTo>
                    <a:pt x="1660867" y="0"/>
                  </a:lnTo>
                  <a:lnTo>
                    <a:pt x="1660867" y="878117"/>
                  </a:lnTo>
                  <a:lnTo>
                    <a:pt x="0" y="878117"/>
                  </a:lnTo>
                  <a:close/>
                </a:path>
              </a:pathLst>
            </a:custGeom>
            <a:blipFill>
              <a:blip r:embed="rId2"/>
              <a:stretch>
                <a:fillRect l="-2871" t="0" r="-287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2769" y="205205"/>
            <a:ext cx="12608914" cy="114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8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Lowercasing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6280" y="1527096"/>
            <a:ext cx="1197784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34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Conve</a:t>
            </a:r>
            <a:r>
              <a:rPr lang="en-US" sz="4500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rt everything to lowercase.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41541" y="2830164"/>
            <a:ext cx="8544353" cy="4803236"/>
            <a:chOff x="0" y="0"/>
            <a:chExt cx="1488053" cy="8365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8053" cy="836514"/>
            </a:xfrm>
            <a:custGeom>
              <a:avLst/>
              <a:gdLst/>
              <a:ahLst/>
              <a:cxnLst/>
              <a:rect r="r" b="b" t="t" l="l"/>
              <a:pathLst>
                <a:path h="836514" w="1488053">
                  <a:moveTo>
                    <a:pt x="0" y="0"/>
                  </a:moveTo>
                  <a:lnTo>
                    <a:pt x="1488053" y="0"/>
                  </a:lnTo>
                  <a:lnTo>
                    <a:pt x="1488053" y="836514"/>
                  </a:lnTo>
                  <a:lnTo>
                    <a:pt x="0" y="836514"/>
                  </a:lnTo>
                  <a:close/>
                </a:path>
              </a:pathLst>
            </a:custGeom>
            <a:blipFill>
              <a:blip r:embed="rId2"/>
              <a:stretch>
                <a:fillRect l="0" t="-708" r="0" b="-708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19706" y="346122"/>
            <a:ext cx="4586605" cy="114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8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Tokenization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70653" y="1632911"/>
            <a:ext cx="16698505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34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Br</a:t>
            </a:r>
            <a:r>
              <a:rPr lang="en-US" sz="4500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eak the sentence down </a:t>
            </a:r>
            <a:r>
              <a:rPr lang="en-US" sz="4500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into individual words.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7600" y="2830164"/>
            <a:ext cx="11383660" cy="5399436"/>
            <a:chOff x="0" y="0"/>
            <a:chExt cx="1763627" cy="8365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3627" cy="836514"/>
            </a:xfrm>
            <a:custGeom>
              <a:avLst/>
              <a:gdLst/>
              <a:ahLst/>
              <a:cxnLst/>
              <a:rect r="r" b="b" t="t" l="l"/>
              <a:pathLst>
                <a:path h="836514" w="1763627">
                  <a:moveTo>
                    <a:pt x="0" y="0"/>
                  </a:moveTo>
                  <a:lnTo>
                    <a:pt x="1763627" y="0"/>
                  </a:lnTo>
                  <a:lnTo>
                    <a:pt x="1763627" y="836514"/>
                  </a:lnTo>
                  <a:lnTo>
                    <a:pt x="0" y="836514"/>
                  </a:lnTo>
                  <a:close/>
                </a:path>
              </a:pathLst>
            </a:custGeom>
            <a:blipFill>
              <a:blip r:embed="rId2"/>
              <a:stretch>
                <a:fillRect l="-1148" t="0" r="-1148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2760" y="349354"/>
            <a:ext cx="6670834" cy="114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8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Stopword Removal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634527"/>
            <a:ext cx="18643294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34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Removing me</a:t>
            </a:r>
            <a:r>
              <a:rPr lang="en-US" sz="45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aningless words that doesn't help the model learn.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82346" y="0"/>
            <a:ext cx="6202991" cy="10287000"/>
            <a:chOff x="0" y="0"/>
            <a:chExt cx="981458" cy="16276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1458" cy="1627643"/>
            </a:xfrm>
            <a:custGeom>
              <a:avLst/>
              <a:gdLst/>
              <a:ahLst/>
              <a:cxnLst/>
              <a:rect r="r" b="b" t="t" l="l"/>
              <a:pathLst>
                <a:path h="1627643" w="981458">
                  <a:moveTo>
                    <a:pt x="0" y="0"/>
                  </a:moveTo>
                  <a:lnTo>
                    <a:pt x="981458" y="0"/>
                  </a:lnTo>
                  <a:lnTo>
                    <a:pt x="981458" y="1627643"/>
                  </a:lnTo>
                  <a:lnTo>
                    <a:pt x="0" y="1627643"/>
                  </a:lnTo>
                  <a:close/>
                </a:path>
              </a:pathLst>
            </a:custGeom>
            <a:blipFill>
              <a:blip r:embed="rId2"/>
              <a:stretch>
                <a:fillRect l="-2572" t="0" r="-2572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77761" y="346122"/>
            <a:ext cx="6536321" cy="114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8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Lemmatization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36766" y="1866900"/>
            <a:ext cx="6707234" cy="2716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34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Restore the word</a:t>
            </a:r>
            <a:r>
              <a:rPr lang="en-US" sz="45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 to its original form using a dictionary.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67574" y="213392"/>
            <a:ext cx="11552851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Apply to the real dataset (IMDb 50K Movie Reviews)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14350" y="2985578"/>
            <a:ext cx="17259300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Here is the result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00204" y="5067300"/>
            <a:ext cx="186499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Before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87164" y="5067300"/>
            <a:ext cx="6433879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After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8919" y="6198995"/>
            <a:ext cx="8207566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 had the terr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ible misfortune of having to view this "b-movie" in it's entirety.&lt;br /&gt;&lt;br /&gt;All I have to say is--- save your time and money!!!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21504" y="6242175"/>
            <a:ext cx="7352146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terr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ible misfortune view bmovie entirety all say save time money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8886" y="3466625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600533" y="2386997"/>
            <a:ext cx="10010172" cy="5194428"/>
            <a:chOff x="0" y="0"/>
            <a:chExt cx="3399374" cy="17639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99374" cy="1763986"/>
            </a:xfrm>
            <a:custGeom>
              <a:avLst/>
              <a:gdLst/>
              <a:ahLst/>
              <a:cxnLst/>
              <a:rect r="r" b="b" t="t" l="l"/>
              <a:pathLst>
                <a:path h="1763986" w="3399374">
                  <a:moveTo>
                    <a:pt x="0" y="0"/>
                  </a:moveTo>
                  <a:lnTo>
                    <a:pt x="3399374" y="0"/>
                  </a:lnTo>
                  <a:lnTo>
                    <a:pt x="3399374" y="1763986"/>
                  </a:lnTo>
                  <a:lnTo>
                    <a:pt x="0" y="1763986"/>
                  </a:lnTo>
                  <a:close/>
                </a:path>
              </a:pathLst>
            </a:custGeom>
            <a:solidFill>
              <a:srgbClr val="F0EFE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399374" cy="1802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197088" y="606410"/>
            <a:ext cx="2580839" cy="2580374"/>
            <a:chOff x="0" y="0"/>
            <a:chExt cx="876432" cy="8762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6432" cy="876274"/>
            </a:xfrm>
            <a:custGeom>
              <a:avLst/>
              <a:gdLst/>
              <a:ahLst/>
              <a:cxnLst/>
              <a:rect r="r" b="b" t="t" l="l"/>
              <a:pathLst>
                <a:path h="876274" w="876432">
                  <a:moveTo>
                    <a:pt x="0" y="0"/>
                  </a:moveTo>
                  <a:lnTo>
                    <a:pt x="876432" y="0"/>
                  </a:lnTo>
                  <a:lnTo>
                    <a:pt x="876432" y="876274"/>
                  </a:lnTo>
                  <a:lnTo>
                    <a:pt x="0" y="876274"/>
                  </a:lnTo>
                  <a:close/>
                </a:path>
              </a:pathLst>
            </a:custGeom>
            <a:solidFill>
              <a:srgbClr val="F0EFE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76432" cy="914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647846" y="1028700"/>
            <a:ext cx="1679323" cy="1685452"/>
          </a:xfrm>
          <a:custGeom>
            <a:avLst/>
            <a:gdLst/>
            <a:ahLst/>
            <a:cxnLst/>
            <a:rect r="r" b="b" t="t" l="l"/>
            <a:pathLst>
              <a:path h="1685452" w="1679323">
                <a:moveTo>
                  <a:pt x="0" y="0"/>
                </a:moveTo>
                <a:lnTo>
                  <a:pt x="1679323" y="0"/>
                </a:lnTo>
                <a:lnTo>
                  <a:pt x="1679323" y="1685452"/>
                </a:lnTo>
                <a:lnTo>
                  <a:pt x="0" y="16854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998238" y="4135754"/>
            <a:ext cx="7637172" cy="1007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8000" b="true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Baseline model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67714" y="5591810"/>
            <a:ext cx="10010172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Nguyễn Xuân Dương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538106"/>
            <a:ext cx="6286500" cy="846355"/>
          </a:xfrm>
          <a:custGeom>
            <a:avLst/>
            <a:gdLst/>
            <a:ahLst/>
            <a:cxnLst/>
            <a:rect r="r" b="b" t="t" l="l"/>
            <a:pathLst>
              <a:path h="846355" w="6286500">
                <a:moveTo>
                  <a:pt x="0" y="0"/>
                </a:moveTo>
                <a:lnTo>
                  <a:pt x="6286500" y="0"/>
                </a:lnTo>
                <a:lnTo>
                  <a:pt x="6286500" y="846355"/>
                </a:lnTo>
                <a:lnTo>
                  <a:pt x="0" y="8463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18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821129"/>
            <a:ext cx="4049714" cy="796665"/>
          </a:xfrm>
          <a:custGeom>
            <a:avLst/>
            <a:gdLst/>
            <a:ahLst/>
            <a:cxnLst/>
            <a:rect r="r" b="b" t="t" l="l"/>
            <a:pathLst>
              <a:path h="796665" w="4049714">
                <a:moveTo>
                  <a:pt x="0" y="0"/>
                </a:moveTo>
                <a:lnTo>
                  <a:pt x="4049714" y="0"/>
                </a:lnTo>
                <a:lnTo>
                  <a:pt x="4049714" y="796665"/>
                </a:lnTo>
                <a:lnTo>
                  <a:pt x="0" y="7966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7949790"/>
            <a:ext cx="4039808" cy="871847"/>
          </a:xfrm>
          <a:custGeom>
            <a:avLst/>
            <a:gdLst/>
            <a:ahLst/>
            <a:cxnLst/>
            <a:rect r="r" b="b" t="t" l="l"/>
            <a:pathLst>
              <a:path h="871847" w="4039808">
                <a:moveTo>
                  <a:pt x="0" y="0"/>
                </a:moveTo>
                <a:lnTo>
                  <a:pt x="4039808" y="0"/>
                </a:lnTo>
                <a:lnTo>
                  <a:pt x="4039808" y="871847"/>
                </a:lnTo>
                <a:lnTo>
                  <a:pt x="0" y="8718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202" t="0" r="-3151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56133" y="141923"/>
            <a:ext cx="11721092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19"/>
              </a:lnSpc>
            </a:pPr>
            <a:r>
              <a:rPr lang="en-US" sz="930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Text representation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651535"/>
            <a:ext cx="3908444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OneHotEncoding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79177" y="2666775"/>
            <a:ext cx="9370371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Detects the presence of a word in a document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803457"/>
            <a:ext cx="3908444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b="true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Bag of Words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79177" y="4818697"/>
            <a:ext cx="10261589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Detects the occurence of a word in a document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955380"/>
            <a:ext cx="3908444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b="true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TF - IDF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79177" y="6970620"/>
            <a:ext cx="11492318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Detects the importance (weight) of a word in a document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56133" y="2413357"/>
            <a:ext cx="17030367" cy="6675606"/>
            <a:chOff x="0" y="0"/>
            <a:chExt cx="4485364" cy="17581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85364" cy="1758184"/>
            </a:xfrm>
            <a:custGeom>
              <a:avLst/>
              <a:gdLst/>
              <a:ahLst/>
              <a:cxnLst/>
              <a:rect r="r" b="b" t="t" l="l"/>
              <a:pathLst>
                <a:path h="1758184" w="4485364">
                  <a:moveTo>
                    <a:pt x="0" y="0"/>
                  </a:moveTo>
                  <a:lnTo>
                    <a:pt x="4485364" y="0"/>
                  </a:lnTo>
                  <a:lnTo>
                    <a:pt x="4485364" y="1758184"/>
                  </a:lnTo>
                  <a:lnTo>
                    <a:pt x="0" y="1758184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485364" cy="1796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028700" y="4676672"/>
            <a:ext cx="1644279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028700" y="6836869"/>
            <a:ext cx="1644279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96737" y="141923"/>
            <a:ext cx="13515498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19"/>
              </a:lnSpc>
            </a:pPr>
            <a:r>
              <a:rPr lang="en-US" sz="9300" b="true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Classification Algorithm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245968" y="2351526"/>
            <a:ext cx="3657600" cy="1603931"/>
          </a:xfrm>
          <a:custGeom>
            <a:avLst/>
            <a:gdLst/>
            <a:ahLst/>
            <a:cxnLst/>
            <a:rect r="r" b="b" t="t" l="l"/>
            <a:pathLst>
              <a:path h="1603931" w="3657600">
                <a:moveTo>
                  <a:pt x="0" y="0"/>
                </a:moveTo>
                <a:lnTo>
                  <a:pt x="3657600" y="0"/>
                </a:lnTo>
                <a:lnTo>
                  <a:pt x="3657600" y="1603932"/>
                </a:lnTo>
                <a:lnTo>
                  <a:pt x="0" y="1603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541" t="-14798" r="-7961" b="-1796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45968" y="3898942"/>
            <a:ext cx="3657600" cy="1244558"/>
          </a:xfrm>
          <a:custGeom>
            <a:avLst/>
            <a:gdLst/>
            <a:ahLst/>
            <a:cxnLst/>
            <a:rect r="r" b="b" t="t" l="l"/>
            <a:pathLst>
              <a:path h="1244558" w="3657600">
                <a:moveTo>
                  <a:pt x="0" y="0"/>
                </a:moveTo>
                <a:lnTo>
                  <a:pt x="3657600" y="0"/>
                </a:lnTo>
                <a:lnTo>
                  <a:pt x="3657600" y="1244558"/>
                </a:lnTo>
                <a:lnTo>
                  <a:pt x="0" y="1244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7029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68421" y="6878064"/>
            <a:ext cx="5812695" cy="1545369"/>
          </a:xfrm>
          <a:custGeom>
            <a:avLst/>
            <a:gdLst/>
            <a:ahLst/>
            <a:cxnLst/>
            <a:rect r="r" b="b" t="t" l="l"/>
            <a:pathLst>
              <a:path h="1545369" w="5812695">
                <a:moveTo>
                  <a:pt x="0" y="0"/>
                </a:moveTo>
                <a:lnTo>
                  <a:pt x="5812695" y="0"/>
                </a:lnTo>
                <a:lnTo>
                  <a:pt x="5812695" y="1545369"/>
                </a:lnTo>
                <a:lnTo>
                  <a:pt x="0" y="15453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84910" y="2483567"/>
            <a:ext cx="4645977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Logistic Regression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82458" y="6395242"/>
            <a:ext cx="3250882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Naives Bayes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3044" y="3789998"/>
            <a:ext cx="7983379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Predicts based on the weight of the word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3044" y="7703343"/>
            <a:ext cx="8332068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Predicts based on the probability of the word within a class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028700" y="5853288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734914" y="1986674"/>
            <a:ext cx="16881831" cy="7441056"/>
            <a:chOff x="0" y="0"/>
            <a:chExt cx="4446244" cy="19597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6244" cy="1959784"/>
            </a:xfrm>
            <a:custGeom>
              <a:avLst/>
              <a:gdLst/>
              <a:ahLst/>
              <a:cxnLst/>
              <a:rect r="r" b="b" t="t" l="l"/>
              <a:pathLst>
                <a:path h="1959784" w="4446244">
                  <a:moveTo>
                    <a:pt x="0" y="0"/>
                  </a:moveTo>
                  <a:lnTo>
                    <a:pt x="4446244" y="0"/>
                  </a:lnTo>
                  <a:lnTo>
                    <a:pt x="4446244" y="1959784"/>
                  </a:lnTo>
                  <a:lnTo>
                    <a:pt x="0" y="1959784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446244" cy="199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2091690"/>
          <a:ext cx="10487511" cy="7775644"/>
        </p:xfrm>
        <a:graphic>
          <a:graphicData uri="http://schemas.openxmlformats.org/drawingml/2006/table">
            <a:tbl>
              <a:tblPr/>
              <a:tblGrid>
                <a:gridCol w="6218086"/>
                <a:gridCol w="2163794"/>
                <a:gridCol w="2105631"/>
              </a:tblGrid>
              <a:tr h="13496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Inter 1 Bold"/>
                          <a:ea typeface="Inter 1 Bold"/>
                          <a:cs typeface="Inter 1 Bold"/>
                          <a:sym typeface="Inter 1 Bold"/>
                        </a:rPr>
                        <a:t>Model Architecture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Inter 1 Bold"/>
                          <a:ea typeface="Inter 1 Bold"/>
                          <a:cs typeface="Inter 1 Bold"/>
                          <a:sym typeface="Inter 1 Bold"/>
                        </a:rPr>
                        <a:t>Training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Inter 1 Bold"/>
                          <a:ea typeface="Inter 1 Bold"/>
                          <a:cs typeface="Inter 1 Bold"/>
                          <a:sym typeface="Inter 1 Bold"/>
                        </a:rPr>
                        <a:t>Testing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27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Inter 1"/>
                          <a:ea typeface="Inter 1"/>
                          <a:cs typeface="Inter 1"/>
                          <a:sym typeface="Inter 1"/>
                        </a:rPr>
                        <a:t>One-hot-encoding + Naive Bayes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Inter 1"/>
                          <a:ea typeface="Inter 1"/>
                          <a:cs typeface="Inter 1"/>
                          <a:sym typeface="Inter 1"/>
                        </a:rPr>
                        <a:t>84.52%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Inter 1"/>
                          <a:ea typeface="Inter 1"/>
                          <a:cs typeface="Inter 1"/>
                          <a:sym typeface="Inter 1"/>
                        </a:rPr>
                        <a:t>84.33%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08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Inter 1"/>
                          <a:ea typeface="Inter 1"/>
                          <a:cs typeface="Inter 1"/>
                          <a:sym typeface="Inter 1"/>
                        </a:rPr>
                        <a:t>One-hot-encoding + Logistic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3359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Inter 1"/>
                          <a:ea typeface="Inter 1"/>
                          <a:cs typeface="Inter 1"/>
                          <a:sym typeface="Inter 1"/>
                        </a:rPr>
                        <a:t>89.32%</a:t>
                      </a:r>
                    </a:p>
                    <a:p>
                      <a:pPr algn="ctr">
                        <a:lnSpc>
                          <a:spcPts val="335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Inter 1"/>
                          <a:ea typeface="Inter 1"/>
                          <a:cs typeface="Inter 1"/>
                          <a:sym typeface="Inter 1"/>
                        </a:rPr>
                        <a:t>86.99%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70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Inter 1"/>
                          <a:ea typeface="Inter 1"/>
                          <a:cs typeface="Inter 1"/>
                          <a:sym typeface="Inter 1"/>
                        </a:rPr>
                        <a:t>Bag-of-words + Naive Bayes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Inter 1"/>
                          <a:ea typeface="Inter 1"/>
                          <a:cs typeface="Inter 1"/>
                          <a:sym typeface="Inter 1"/>
                        </a:rPr>
                        <a:t>83.79%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Inter 1"/>
                          <a:ea typeface="Inter 1"/>
                          <a:cs typeface="Inter 1"/>
                          <a:sym typeface="Inter 1"/>
                        </a:rPr>
                        <a:t>83.41%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84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Inter 1"/>
                          <a:ea typeface="Inter 1"/>
                          <a:cs typeface="Inter 1"/>
                          <a:sym typeface="Inter 1"/>
                        </a:rPr>
                        <a:t>Bag-of-words + Logistic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Inter 1"/>
                          <a:ea typeface="Inter 1"/>
                          <a:cs typeface="Inter 1"/>
                          <a:sym typeface="Inter 1"/>
                        </a:rPr>
                        <a:t>89.32%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Inter 1"/>
                          <a:ea typeface="Inter 1"/>
                          <a:cs typeface="Inter 1"/>
                          <a:sym typeface="Inter 1"/>
                        </a:rPr>
                        <a:t>86.63%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84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Inter 1"/>
                          <a:ea typeface="Inter 1"/>
                          <a:cs typeface="Inter 1"/>
                          <a:sym typeface="Inter 1"/>
                        </a:rPr>
                        <a:t>TF-IDF + Naive Bayes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Inter 1"/>
                          <a:ea typeface="Inter 1"/>
                          <a:cs typeface="Inter 1"/>
                          <a:sym typeface="Inter 1"/>
                        </a:rPr>
                        <a:t>84.77%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Inter 1"/>
                          <a:ea typeface="Inter 1"/>
                          <a:cs typeface="Inter 1"/>
                          <a:sym typeface="Inter 1"/>
                        </a:rPr>
                        <a:t>84.29%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84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Inter 1"/>
                          <a:ea typeface="Inter 1"/>
                          <a:cs typeface="Inter 1"/>
                          <a:sym typeface="Inter 1"/>
                        </a:rPr>
                        <a:t>TF-IDF + Logistic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Inter 1"/>
                          <a:ea typeface="Inter 1"/>
                          <a:cs typeface="Inter 1"/>
                          <a:sym typeface="Inter 1"/>
                        </a:rPr>
                        <a:t>89.32%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Inter 1"/>
                          <a:ea typeface="Inter 1"/>
                          <a:cs typeface="Inter 1"/>
                          <a:sym typeface="Inter 1"/>
                        </a:rPr>
                        <a:t>87.11%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2350176" y="4919267"/>
            <a:ext cx="4940953" cy="173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Logistic Regression is better at predicting  than Naive Bayes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830299" y="3086100"/>
            <a:ext cx="5429001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Conclusion!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23019" y="141923"/>
            <a:ext cx="5429001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19"/>
              </a:lnSpc>
              <a:spcBef>
                <a:spcPct val="0"/>
              </a:spcBef>
            </a:pPr>
            <a:r>
              <a:rPr lang="en-US" b="true" sz="9300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Results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15900" y="7904798"/>
            <a:ext cx="5429001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But why?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80764" y="-1534426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49035" y="4114800"/>
            <a:ext cx="2580839" cy="2580374"/>
            <a:chOff x="0" y="0"/>
            <a:chExt cx="3441118" cy="344049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441118" cy="3440499"/>
              <a:chOff x="0" y="0"/>
              <a:chExt cx="876432" cy="876274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76432" cy="876274"/>
              </a:xfrm>
              <a:custGeom>
                <a:avLst/>
                <a:gdLst/>
                <a:ahLst/>
                <a:cxnLst/>
                <a:rect r="r" b="b" t="t" l="l"/>
                <a:pathLst>
                  <a:path h="876274" w="876432">
                    <a:moveTo>
                      <a:pt x="0" y="0"/>
                    </a:moveTo>
                    <a:lnTo>
                      <a:pt x="876432" y="0"/>
                    </a:lnTo>
                    <a:lnTo>
                      <a:pt x="876432" y="876274"/>
                    </a:lnTo>
                    <a:lnTo>
                      <a:pt x="0" y="876274"/>
                    </a:lnTo>
                    <a:close/>
                  </a:path>
                </a:pathLst>
              </a:custGeom>
              <a:solidFill>
                <a:srgbClr val="F0EFEB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876432" cy="9143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601011" y="595699"/>
              <a:ext cx="2239097" cy="2247269"/>
            </a:xfrm>
            <a:custGeom>
              <a:avLst/>
              <a:gdLst/>
              <a:ahLst/>
              <a:cxnLst/>
              <a:rect r="r" b="b" t="t" l="l"/>
              <a:pathLst>
                <a:path h="2247269" w="2239097">
                  <a:moveTo>
                    <a:pt x="0" y="0"/>
                  </a:moveTo>
                  <a:lnTo>
                    <a:pt x="2239097" y="0"/>
                  </a:lnTo>
                  <a:lnTo>
                    <a:pt x="2239097" y="2247269"/>
                  </a:lnTo>
                  <a:lnTo>
                    <a:pt x="0" y="2247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313011" y="2386997"/>
            <a:ext cx="10010172" cy="5513005"/>
            <a:chOff x="0" y="0"/>
            <a:chExt cx="13346897" cy="735067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3346897" cy="7350673"/>
              <a:chOff x="0" y="0"/>
              <a:chExt cx="3399374" cy="187217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399374" cy="1872172"/>
              </a:xfrm>
              <a:custGeom>
                <a:avLst/>
                <a:gdLst/>
                <a:ahLst/>
                <a:cxnLst/>
                <a:rect r="r" b="b" t="t" l="l"/>
                <a:pathLst>
                  <a:path h="1872172" w="3399374">
                    <a:moveTo>
                      <a:pt x="0" y="0"/>
                    </a:moveTo>
                    <a:lnTo>
                      <a:pt x="3399374" y="0"/>
                    </a:lnTo>
                    <a:lnTo>
                      <a:pt x="3399374" y="1872172"/>
                    </a:lnTo>
                    <a:lnTo>
                      <a:pt x="0" y="1872172"/>
                    </a:lnTo>
                    <a:close/>
                  </a:path>
                </a:pathLst>
              </a:custGeom>
              <a:solidFill>
                <a:srgbClr val="F0EFEB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3399374" cy="19102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441379" y="3073356"/>
              <a:ext cx="10065162" cy="14135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440"/>
                </a:lnSpc>
              </a:pPr>
              <a:r>
                <a:rPr lang="en-US" sz="8000" b="true">
                  <a:solidFill>
                    <a:srgbClr val="000000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Error analysis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962314" y="5848667"/>
            <a:ext cx="1001017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Nguyễn Minh Hoàng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3261" y="6331041"/>
            <a:ext cx="17574212" cy="2655662"/>
            <a:chOff x="0" y="0"/>
            <a:chExt cx="4628599" cy="6994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8599" cy="699434"/>
            </a:xfrm>
            <a:custGeom>
              <a:avLst/>
              <a:gdLst/>
              <a:ahLst/>
              <a:cxnLst/>
              <a:rect r="r" b="b" t="t" l="l"/>
              <a:pathLst>
                <a:path h="699434" w="4628599">
                  <a:moveTo>
                    <a:pt x="0" y="0"/>
                  </a:moveTo>
                  <a:lnTo>
                    <a:pt x="4628599" y="0"/>
                  </a:lnTo>
                  <a:lnTo>
                    <a:pt x="4628599" y="699434"/>
                  </a:lnTo>
                  <a:lnTo>
                    <a:pt x="0" y="699434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8599" cy="7375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13261" y="1553045"/>
            <a:ext cx="17574212" cy="4799256"/>
            <a:chOff x="0" y="0"/>
            <a:chExt cx="4628599" cy="12640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28599" cy="1264001"/>
            </a:xfrm>
            <a:custGeom>
              <a:avLst/>
              <a:gdLst/>
              <a:ahLst/>
              <a:cxnLst/>
              <a:rect r="r" b="b" t="t" l="l"/>
              <a:pathLst>
                <a:path h="1264001" w="4628599">
                  <a:moveTo>
                    <a:pt x="0" y="0"/>
                  </a:moveTo>
                  <a:lnTo>
                    <a:pt x="4628599" y="0"/>
                  </a:lnTo>
                  <a:lnTo>
                    <a:pt x="4628599" y="1264001"/>
                  </a:lnTo>
                  <a:lnTo>
                    <a:pt x="0" y="1264001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28599" cy="1302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70715" y="1802015"/>
            <a:ext cx="17146571" cy="3989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 admit creating 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great expectations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before watching because some friends mentioned it (and they are not pervs!) as a must see. And it is a 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must see!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Just don't expect to see something outbreaking. The Freudian psychoanalyzes are 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interesting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in many parts of the film, but there's just too much perversion and it doesn't stick in the end. Some of the 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good things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are the analyzes of Kieslowski's Blue, most of David Lynch's, some of Hitchcock's and perhaps a couple more I missed (I just remembered...), and I usually don't miss things unless they are too obvious or loose in the air. Other than being 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repetitive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, which makes it 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too long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, the documentary is 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enjoyable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in the sense of noticing some perversions fed by our unconscious, hence the 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commercial success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of most thrillers studied and used as basis for this theory. I really 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enjoyed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the energetic tone of the narration and the effort of Mr. Zizek to revive Freud's theory, which has been numb for too long, specially in north America. Again, it's way 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over the top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and I believe 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not to be a completely waste of time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for I do believe most humans have a dark appreciation for death and blood.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2454" y="6533661"/>
            <a:ext cx="309578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Tru</a:t>
            </a:r>
            <a:r>
              <a:rPr lang="en-US" b="true" sz="2500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e label: Negative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54925" y="6533661"/>
            <a:ext cx="374475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Model predict</a:t>
            </a:r>
            <a:r>
              <a:rPr lang="en-US" b="true" sz="2500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: Possitive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55053" y="-161925"/>
            <a:ext cx="6090627" cy="146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41"/>
              </a:lnSpc>
            </a:pPr>
            <a:r>
              <a:rPr lang="en-US" b="true" sz="8600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Example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57600" y="7460760"/>
            <a:ext cx="12905179" cy="2389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Why the model is wrong: Mix Revie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w</a:t>
            </a:r>
          </a:p>
          <a:p>
            <a:pPr algn="l" marL="496575" indent="-248288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The number of positive words that appear is higher than Negative words </a:t>
            </a:r>
          </a:p>
          <a:p>
            <a:pPr algn="l" marL="496575" indent="-248288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“Not to be a completely waste of time “: The “Not” and “waste of time” is too far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3261" y="4991619"/>
            <a:ext cx="17574212" cy="3965853"/>
            <a:chOff x="0" y="0"/>
            <a:chExt cx="4628599" cy="10445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8599" cy="1044505"/>
            </a:xfrm>
            <a:custGeom>
              <a:avLst/>
              <a:gdLst/>
              <a:ahLst/>
              <a:cxnLst/>
              <a:rect r="r" b="b" t="t" l="l"/>
              <a:pathLst>
                <a:path h="1044505" w="4628599">
                  <a:moveTo>
                    <a:pt x="0" y="0"/>
                  </a:moveTo>
                  <a:lnTo>
                    <a:pt x="4628599" y="0"/>
                  </a:lnTo>
                  <a:lnTo>
                    <a:pt x="4628599" y="1044505"/>
                  </a:lnTo>
                  <a:lnTo>
                    <a:pt x="0" y="1044505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8599" cy="1082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13261" y="1553045"/>
            <a:ext cx="17574212" cy="3438574"/>
            <a:chOff x="0" y="0"/>
            <a:chExt cx="4628599" cy="9056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28599" cy="905633"/>
            </a:xfrm>
            <a:custGeom>
              <a:avLst/>
              <a:gdLst/>
              <a:ahLst/>
              <a:cxnLst/>
              <a:rect r="r" b="b" t="t" l="l"/>
              <a:pathLst>
                <a:path h="905633" w="4628599">
                  <a:moveTo>
                    <a:pt x="0" y="0"/>
                  </a:moveTo>
                  <a:lnTo>
                    <a:pt x="4628599" y="0"/>
                  </a:lnTo>
                  <a:lnTo>
                    <a:pt x="4628599" y="905633"/>
                  </a:lnTo>
                  <a:lnTo>
                    <a:pt x="0" y="905633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28599" cy="943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70715" y="1802015"/>
            <a:ext cx="17146571" cy="3189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The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s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o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y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of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he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br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id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f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ir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s 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 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a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m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us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ing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nd 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en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gag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i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ng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one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, an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d it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is to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the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filmm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k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er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'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s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cr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edit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th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h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s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s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o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u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 to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p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o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ray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ura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l M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in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eso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ans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with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h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same respect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ord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ina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ril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y r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s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erved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f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o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Coas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-dw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l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lers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.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is weird,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h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ou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g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h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,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o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fi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nd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 in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d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p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ende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m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o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v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,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the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br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chi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l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d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of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si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ng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le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per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so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n,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th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s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s 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una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m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b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it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i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o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u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s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and 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clic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h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é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d©-ridden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as a commi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tee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-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b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w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ed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Ho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lly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w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o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od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po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bo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ile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r.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he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po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rait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o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f r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u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ral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pe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o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p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le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is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inte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nd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d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o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be 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affectionate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,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 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hi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k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,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bu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he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se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c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h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ar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c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s 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d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on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'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t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 r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ing 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true t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o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me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--I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ha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ve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ha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d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q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ui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 f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w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meals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in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s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m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all-t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o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wn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d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ers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,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bu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 n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ever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ov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rhear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d a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de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ba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o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th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m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er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its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of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diffe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in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teen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th-c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ntu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y En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g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l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sh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no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v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lis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s.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O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mig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h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sugg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s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that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w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ri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er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/d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ire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c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tor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Seamans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has 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n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o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mor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e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ex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pe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r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i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e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n</a:t>
            </a:r>
            <a:r>
              <a:rPr lang="en-US" sz="2300" strike="noStrike" u="none">
                <a:solidFill>
                  <a:srgbClr val="38B6FF"/>
                </a:solidFill>
                <a:latin typeface="Inter 2"/>
                <a:ea typeface="Inter 2"/>
                <a:cs typeface="Inter 2"/>
                <a:sym typeface="Inter 2"/>
              </a:rPr>
              <a:t>ce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wi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th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ru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l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cul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ure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th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the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C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o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 b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ot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h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rs,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nd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co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si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d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bl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y l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ess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s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ti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ri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c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ve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v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e.</a:t>
            </a:r>
          </a:p>
          <a:p>
            <a:pPr algn="just">
              <a:lnSpc>
                <a:spcPts val="322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109708" y="5102860"/>
            <a:ext cx="309578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Tru</a:t>
            </a:r>
            <a:r>
              <a:rPr lang="en-US" b="true" sz="2499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e label: Negative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58023" y="5102860"/>
            <a:ext cx="374475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Model predict</a:t>
            </a:r>
            <a:r>
              <a:rPr lang="en-US" b="true" sz="2499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: Possitive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55053" y="-161925"/>
            <a:ext cx="6090627" cy="146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41"/>
              </a:lnSpc>
            </a:pPr>
            <a:r>
              <a:rPr lang="en-US" b="true" sz="8600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Example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17415" y="5725160"/>
            <a:ext cx="14965903" cy="278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Why the model is wrong: </a:t>
            </a:r>
          </a:p>
          <a:p>
            <a:pPr algn="l" marL="496575" indent="-248288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For me: They can’t understand The writting style of the human</a:t>
            </a:r>
          </a:p>
          <a:p>
            <a:pPr algn="l" marL="993151" indent="-331050" lvl="2">
              <a:lnSpc>
                <a:spcPts val="3220"/>
              </a:lnSpc>
              <a:spcBef>
                <a:spcPct val="0"/>
              </a:spcBef>
              <a:buFont typeface="Arial"/>
              <a:buChar char="⚬"/>
            </a:pP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User would like to praise a few aspects of the film ⟶ Talk about what they don’t like in the film</a:t>
            </a:r>
          </a:p>
          <a:p>
            <a:pPr algn="l" marL="993151" indent="-331050" lvl="2">
              <a:lnSpc>
                <a:spcPts val="3220"/>
              </a:lnSpc>
              <a:spcBef>
                <a:spcPct val="0"/>
              </a:spcBef>
              <a:buFont typeface="Arial"/>
              <a:buChar char="⚬"/>
            </a:pP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“Don't ring true to me”: The model only test 1, 2 words near ⟶ they can’t trully understand this part</a:t>
            </a:r>
          </a:p>
          <a:p>
            <a:pPr algn="l" marL="496575" indent="-248288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For LLM: cannot understand Concession</a:t>
            </a:r>
          </a:p>
          <a:p>
            <a:pPr algn="l" marL="993151" indent="-331050" lvl="2">
              <a:lnSpc>
                <a:spcPts val="3220"/>
              </a:lnSpc>
              <a:spcBef>
                <a:spcPct val="0"/>
              </a:spcBef>
              <a:buFont typeface="Arial"/>
              <a:buChar char="⚬"/>
            </a:pP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Human critics often try to be polite. They start by praising the director's intentions before destroying the actual execution of the movie.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3261" y="3391419"/>
            <a:ext cx="17574212" cy="4529860"/>
            <a:chOff x="0" y="0"/>
            <a:chExt cx="4628599" cy="1193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8599" cy="1193050"/>
            </a:xfrm>
            <a:custGeom>
              <a:avLst/>
              <a:gdLst/>
              <a:ahLst/>
              <a:cxnLst/>
              <a:rect r="r" b="b" t="t" l="l"/>
              <a:pathLst>
                <a:path h="1193050" w="4628599">
                  <a:moveTo>
                    <a:pt x="0" y="0"/>
                  </a:moveTo>
                  <a:lnTo>
                    <a:pt x="4628599" y="0"/>
                  </a:lnTo>
                  <a:lnTo>
                    <a:pt x="4628599" y="1193050"/>
                  </a:lnTo>
                  <a:lnTo>
                    <a:pt x="0" y="1193050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8599" cy="1231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13261" y="1553045"/>
            <a:ext cx="17574212" cy="1838374"/>
            <a:chOff x="0" y="0"/>
            <a:chExt cx="4628599" cy="4841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28599" cy="484181"/>
            </a:xfrm>
            <a:custGeom>
              <a:avLst/>
              <a:gdLst/>
              <a:ahLst/>
              <a:cxnLst/>
              <a:rect r="r" b="b" t="t" l="l"/>
              <a:pathLst>
                <a:path h="484181" w="4628599">
                  <a:moveTo>
                    <a:pt x="0" y="0"/>
                  </a:moveTo>
                  <a:lnTo>
                    <a:pt x="4628599" y="0"/>
                  </a:lnTo>
                  <a:lnTo>
                    <a:pt x="4628599" y="484181"/>
                  </a:lnTo>
                  <a:lnTo>
                    <a:pt x="0" y="484181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28599" cy="522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70715" y="1802015"/>
            <a:ext cx="17146571" cy="1589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F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ar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h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F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wce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g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v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es an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aw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ar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d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nom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d pe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rf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o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mance 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s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an attem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p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d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ra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p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v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ict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m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w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h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o 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ur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ns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the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b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les on her 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tta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c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k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er.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his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m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ovie 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n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o</a:t>
            </a:r>
            <a:r>
              <a:rPr lang="en-US" sz="2300" strike="noStrike" u="none">
                <a:solidFill>
                  <a:srgbClr val="FF3131"/>
                </a:solidFill>
                <a:latin typeface="Inter 2"/>
                <a:ea typeface="Inter 2"/>
                <a:cs typeface="Inter 2"/>
                <a:sym typeface="Inter 2"/>
              </a:rPr>
              <a:t>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o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ly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makes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y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ou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x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mine your o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w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m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o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rals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,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p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r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ov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es 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h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F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wce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tt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c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n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x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ce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l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a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s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a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s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erious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ac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tr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es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s both as a 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v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ctim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an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d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 v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i</a:t>
            </a: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ctor.</a:t>
            </a:r>
          </a:p>
          <a:p>
            <a:pPr algn="just">
              <a:lnSpc>
                <a:spcPts val="322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691848" y="3583109"/>
            <a:ext cx="294973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Tru</a:t>
            </a:r>
            <a:r>
              <a:rPr lang="en-US" b="true" sz="2499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e label: Positive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74216" y="3583109"/>
            <a:ext cx="371236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Model predict</a:t>
            </a:r>
            <a:r>
              <a:rPr lang="en-US" b="true" sz="2499">
                <a:solidFill>
                  <a:srgbClr val="000000"/>
                </a:solidFill>
                <a:latin typeface="Inter 2 Bold"/>
                <a:ea typeface="Inter 2 Bold"/>
                <a:cs typeface="Inter 2 Bold"/>
                <a:sym typeface="Inter 2 Bold"/>
              </a:rPr>
              <a:t>: Negative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55053" y="-161925"/>
            <a:ext cx="6090627" cy="146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41"/>
              </a:lnSpc>
            </a:pPr>
            <a:r>
              <a:rPr lang="en-US" b="true" sz="8600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Example 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4957" y="4500684"/>
            <a:ext cx="16498085" cy="398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Why the model is wrong: Lack of classification words</a:t>
            </a:r>
          </a:p>
          <a:p>
            <a:pPr algn="l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For me: </a:t>
            </a:r>
          </a:p>
          <a:p>
            <a:pPr algn="l" marL="993141" indent="-331047" lvl="2">
              <a:lnSpc>
                <a:spcPts val="3220"/>
              </a:lnSpc>
              <a:spcBef>
                <a:spcPct val="0"/>
              </a:spcBef>
              <a:buFont typeface="Arial"/>
              <a:buChar char="⚬"/>
            </a:pP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The reviews only talk about the actress and his movie, what it talk about?</a:t>
            </a:r>
          </a:p>
          <a:p>
            <a:pPr algn="l" marL="993141" indent="-331047" lvl="2">
              <a:lnSpc>
                <a:spcPts val="3220"/>
              </a:lnSpc>
              <a:spcBef>
                <a:spcPct val="0"/>
              </a:spcBef>
              <a:buFont typeface="Arial"/>
              <a:buChar char="⚬"/>
            </a:pP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The model is completly blind in context</a:t>
            </a:r>
          </a:p>
          <a:p>
            <a:pPr algn="l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LLM:</a:t>
            </a:r>
          </a:p>
          <a:p>
            <a:pPr algn="l" marL="993141" indent="-331047" lvl="2">
              <a:lnSpc>
                <a:spcPts val="3220"/>
              </a:lnSpc>
              <a:spcBef>
                <a:spcPct val="0"/>
              </a:spcBef>
              <a:buFont typeface="Arial"/>
              <a:buChar char="⚬"/>
            </a:pPr>
            <a:r>
              <a:rPr lang="en-US" sz="2300" strike="noStrike" u="none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The model does not understand that these dark words are merely describing the plot of a thriller/drama movie. To the algorithm, "attacker" is pure negative noise that distracts from the praise of the actress.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7353" y="2427483"/>
            <a:ext cx="13814121" cy="7349960"/>
            <a:chOff x="0" y="0"/>
            <a:chExt cx="4691164" cy="24959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91164" cy="2495987"/>
            </a:xfrm>
            <a:custGeom>
              <a:avLst/>
              <a:gdLst/>
              <a:ahLst/>
              <a:cxnLst/>
              <a:rect r="r" b="b" t="t" l="l"/>
              <a:pathLst>
                <a:path h="2495987" w="4691164">
                  <a:moveTo>
                    <a:pt x="0" y="0"/>
                  </a:moveTo>
                  <a:lnTo>
                    <a:pt x="4691164" y="0"/>
                  </a:lnTo>
                  <a:lnTo>
                    <a:pt x="4691164" y="2495987"/>
                  </a:lnTo>
                  <a:lnTo>
                    <a:pt x="0" y="2495987"/>
                  </a:lnTo>
                  <a:close/>
                </a:path>
              </a:pathLst>
            </a:custGeom>
            <a:solidFill>
              <a:srgbClr val="F0EFE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91164" cy="2534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1519965">
            <a:off x="15020242" y="253770"/>
            <a:ext cx="2339468" cy="2348007"/>
          </a:xfrm>
          <a:custGeom>
            <a:avLst/>
            <a:gdLst/>
            <a:ahLst/>
            <a:cxnLst/>
            <a:rect r="r" b="b" t="t" l="l"/>
            <a:pathLst>
              <a:path h="2348007" w="2339468">
                <a:moveTo>
                  <a:pt x="0" y="0"/>
                </a:moveTo>
                <a:lnTo>
                  <a:pt x="2339469" y="0"/>
                </a:lnTo>
                <a:lnTo>
                  <a:pt x="2339469" y="2348007"/>
                </a:lnTo>
                <a:lnTo>
                  <a:pt x="0" y="23480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60957" y="2595358"/>
            <a:ext cx="13040256" cy="689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960"/>
              </a:lnSpc>
              <a:buFont typeface="Arial"/>
              <a:buChar char="•"/>
            </a:pPr>
            <a:r>
              <a:rPr lang="en-US" b="true" sz="2200" spc="66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Sarcasm &amp; Irony:</a:t>
            </a:r>
            <a:r>
              <a:rPr lang="en-US" sz="2200" spc="66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 Using positive words to express a negative thought</a:t>
            </a:r>
          </a:p>
          <a:p>
            <a:pPr algn="l">
              <a:lnSpc>
                <a:spcPts val="3960"/>
              </a:lnSpc>
            </a:pPr>
          </a:p>
          <a:p>
            <a:pPr algn="l" marL="474981" indent="-237491" lvl="1">
              <a:lnSpc>
                <a:spcPts val="3960"/>
              </a:lnSpc>
              <a:buFont typeface="Arial"/>
              <a:buChar char="•"/>
            </a:pPr>
            <a:r>
              <a:rPr lang="en-US" b="true" sz="2200" spc="66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Negation:</a:t>
            </a:r>
            <a:r>
              <a:rPr lang="en-US" sz="2200" spc="66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 When a modifier flips the meaning of the word next to it</a:t>
            </a:r>
          </a:p>
          <a:p>
            <a:pPr algn="l">
              <a:lnSpc>
                <a:spcPts val="3960"/>
              </a:lnSpc>
            </a:pPr>
          </a:p>
          <a:p>
            <a:pPr algn="l" marL="474981" indent="-237491" lvl="1">
              <a:lnSpc>
                <a:spcPts val="3960"/>
              </a:lnSpc>
              <a:buFont typeface="Arial"/>
              <a:buChar char="•"/>
            </a:pPr>
            <a:r>
              <a:rPr lang="en-US" b="true" sz="2200" spc="66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Mixed Sentiment/Long Reviews: </a:t>
            </a:r>
            <a:r>
              <a:rPr lang="en-US" sz="2200" spc="66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The main point is hide in the long paragraph.</a:t>
            </a:r>
          </a:p>
          <a:p>
            <a:pPr algn="l">
              <a:lnSpc>
                <a:spcPts val="3960"/>
              </a:lnSpc>
            </a:pPr>
          </a:p>
          <a:p>
            <a:pPr algn="l" marL="474981" indent="-237491" lvl="1">
              <a:lnSpc>
                <a:spcPts val="3960"/>
              </a:lnSpc>
              <a:buFont typeface="Arial"/>
              <a:buChar char="•"/>
            </a:pPr>
            <a:r>
              <a:rPr lang="en-US" b="true" sz="2200" spc="66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Out of Vocabulary:</a:t>
            </a:r>
            <a:r>
              <a:rPr lang="en-US" sz="2200" spc="66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 Slang, typos, or new words the mode never saw</a:t>
            </a:r>
          </a:p>
          <a:p>
            <a:pPr algn="l">
              <a:lnSpc>
                <a:spcPts val="3960"/>
              </a:lnSpc>
            </a:pPr>
          </a:p>
          <a:p>
            <a:pPr algn="l" marL="474981" indent="-237491" lvl="1">
              <a:lnSpc>
                <a:spcPts val="3960"/>
              </a:lnSpc>
              <a:buFont typeface="Arial"/>
              <a:buChar char="•"/>
            </a:pPr>
            <a:r>
              <a:rPr lang="en-US" b="true" sz="2200" spc="66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Hypotheticals and Conditionals: </a:t>
            </a:r>
            <a:r>
              <a:rPr lang="en-US" sz="2200" spc="66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The user describe their wish bit not happen</a:t>
            </a:r>
          </a:p>
          <a:p>
            <a:pPr algn="l">
              <a:lnSpc>
                <a:spcPts val="3960"/>
              </a:lnSpc>
            </a:pPr>
          </a:p>
          <a:p>
            <a:pPr algn="l" marL="474981" indent="-237491" lvl="1">
              <a:lnSpc>
                <a:spcPts val="3960"/>
              </a:lnSpc>
              <a:buFont typeface="Arial"/>
              <a:buChar char="•"/>
            </a:pPr>
            <a:r>
              <a:rPr lang="en-US" b="true" sz="2200" spc="66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Domain-Specific Noise: </a:t>
            </a:r>
            <a:r>
              <a:rPr lang="en-US" sz="2200" spc="66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Vocabulary that change the sentimenent depend on the movies types</a:t>
            </a:r>
          </a:p>
          <a:p>
            <a:pPr algn="l">
              <a:lnSpc>
                <a:spcPts val="3960"/>
              </a:lnSpc>
            </a:pPr>
          </a:p>
          <a:p>
            <a:pPr algn="l" marL="474981" indent="-237491" lvl="1">
              <a:lnSpc>
                <a:spcPts val="3960"/>
              </a:lnSpc>
              <a:buFont typeface="Arial"/>
              <a:buChar char="•"/>
            </a:pPr>
            <a:r>
              <a:rPr lang="en-US" b="true" sz="2200" spc="66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Context-Dependent Words: </a:t>
            </a:r>
            <a:r>
              <a:rPr lang="en-US" sz="2200" spc="66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Words that change their meaning depending on the subject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320097" y="6746675"/>
            <a:ext cx="2594349" cy="3257744"/>
          </a:xfrm>
          <a:custGeom>
            <a:avLst/>
            <a:gdLst/>
            <a:ahLst/>
            <a:cxnLst/>
            <a:rect r="r" b="b" t="t" l="l"/>
            <a:pathLst>
              <a:path h="3257744" w="2594349">
                <a:moveTo>
                  <a:pt x="0" y="0"/>
                </a:moveTo>
                <a:lnTo>
                  <a:pt x="2594349" y="0"/>
                </a:lnTo>
                <a:lnTo>
                  <a:pt x="2594349" y="3257745"/>
                </a:lnTo>
                <a:lnTo>
                  <a:pt x="0" y="3257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60957" y="386123"/>
            <a:ext cx="8580229" cy="167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9"/>
              </a:lnSpc>
            </a:pPr>
            <a:r>
              <a:rPr lang="en-US" sz="6795" b="true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Problems model can predict wrong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50944" y="-1358297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53581" y="7143007"/>
            <a:ext cx="2580839" cy="2580374"/>
            <a:chOff x="0" y="0"/>
            <a:chExt cx="3441118" cy="344049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441118" cy="3440499"/>
              <a:chOff x="0" y="0"/>
              <a:chExt cx="876432" cy="876274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76432" cy="876274"/>
              </a:xfrm>
              <a:custGeom>
                <a:avLst/>
                <a:gdLst/>
                <a:ahLst/>
                <a:cxnLst/>
                <a:rect r="r" b="b" t="t" l="l"/>
                <a:pathLst>
                  <a:path h="876274" w="876432">
                    <a:moveTo>
                      <a:pt x="0" y="0"/>
                    </a:moveTo>
                    <a:lnTo>
                      <a:pt x="876432" y="0"/>
                    </a:lnTo>
                    <a:lnTo>
                      <a:pt x="876432" y="876274"/>
                    </a:lnTo>
                    <a:lnTo>
                      <a:pt x="0" y="876274"/>
                    </a:lnTo>
                    <a:close/>
                  </a:path>
                </a:pathLst>
              </a:custGeom>
              <a:solidFill>
                <a:srgbClr val="F0EFEB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876432" cy="9143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601011" y="595699"/>
              <a:ext cx="2239097" cy="2247269"/>
            </a:xfrm>
            <a:custGeom>
              <a:avLst/>
              <a:gdLst/>
              <a:ahLst/>
              <a:cxnLst/>
              <a:rect r="r" b="b" t="t" l="l"/>
              <a:pathLst>
                <a:path h="2247269" w="2239097">
                  <a:moveTo>
                    <a:pt x="0" y="0"/>
                  </a:moveTo>
                  <a:lnTo>
                    <a:pt x="2239097" y="0"/>
                  </a:lnTo>
                  <a:lnTo>
                    <a:pt x="2239097" y="2247269"/>
                  </a:lnTo>
                  <a:lnTo>
                    <a:pt x="0" y="2247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099099" y="2050535"/>
            <a:ext cx="10010172" cy="4570030"/>
            <a:chOff x="0" y="0"/>
            <a:chExt cx="13346897" cy="609337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3346897" cy="6093373"/>
              <a:chOff x="0" y="0"/>
              <a:chExt cx="3399374" cy="155194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399374" cy="1551945"/>
              </a:xfrm>
              <a:custGeom>
                <a:avLst/>
                <a:gdLst/>
                <a:ahLst/>
                <a:cxnLst/>
                <a:rect r="r" b="b" t="t" l="l"/>
                <a:pathLst>
                  <a:path h="1551945" w="3399374">
                    <a:moveTo>
                      <a:pt x="0" y="0"/>
                    </a:moveTo>
                    <a:lnTo>
                      <a:pt x="3399374" y="0"/>
                    </a:lnTo>
                    <a:lnTo>
                      <a:pt x="3399374" y="1551945"/>
                    </a:lnTo>
                    <a:lnTo>
                      <a:pt x="0" y="1551945"/>
                    </a:lnTo>
                    <a:close/>
                  </a:path>
                </a:pathLst>
              </a:custGeom>
              <a:solidFill>
                <a:srgbClr val="F0EFEB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3399374" cy="16281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80195" y="1633176"/>
              <a:ext cx="12586506" cy="14135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40"/>
                </a:lnSpc>
              </a:pPr>
              <a:r>
                <a:rPr lang="en-US" sz="8000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Improvement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3692691"/>
              <a:ext cx="13346897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Inter 1"/>
                  <a:ea typeface="Inter 1"/>
                  <a:cs typeface="Inter 1"/>
                  <a:sym typeface="Inter 1"/>
                </a:rPr>
                <a:t>Vũ Trần Nam Khánh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90856"/>
            <a:ext cx="879618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30450"/>
            <a:ext cx="13760555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 we can see from the error analysis...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90856"/>
            <a:ext cx="879618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30450"/>
            <a:ext cx="14761827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 we can see from the error analysis...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From what we have noted, that those baseline models we worked - are Frequency Based Word Embedding.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90856"/>
            <a:ext cx="879618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38225" y="2330450"/>
            <a:ext cx="14761827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 we can see from the error analysis...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From what we have noted, that those baseline models we worked - are Frequency Based Word Embedding.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new “embedding” attempt we will cover is Prediction Based Word Embedding.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3178" y="490856"/>
            <a:ext cx="1657323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- Word2Vec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30450"/>
            <a:ext cx="13760555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will use Word2Vec to work with (from Gensim pip library).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3178" y="490856"/>
            <a:ext cx="1657323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- Word2Vec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30450"/>
            <a:ext cx="14665814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will use Word2Vec to work with (from Gensim pip library).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If you pay attention, there are two architectures that we can choose from : Continuous Bag Of Words (CBOW) and Skip-gram.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 the sake of simplicity of this presentation and for the project, we will only talk about CBOW. 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9937" y="381127"/>
            <a:ext cx="97426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990725"/>
            <a:ext cx="1507729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code / program of the model : initialization with Word2Vec - CBOW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3091452"/>
            <a:ext cx="11301259" cy="4124960"/>
          </a:xfrm>
          <a:custGeom>
            <a:avLst/>
            <a:gdLst/>
            <a:ahLst/>
            <a:cxnLst/>
            <a:rect r="r" b="b" t="t" l="l"/>
            <a:pathLst>
              <a:path h="4124960" w="11301259">
                <a:moveTo>
                  <a:pt x="0" y="0"/>
                </a:moveTo>
                <a:lnTo>
                  <a:pt x="11301258" y="0"/>
                </a:lnTo>
                <a:lnTo>
                  <a:pt x="11301258" y="4124960"/>
                </a:lnTo>
                <a:lnTo>
                  <a:pt x="0" y="4124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9937" y="381127"/>
            <a:ext cx="97426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90725"/>
            <a:ext cx="1473439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code / program of the model : initialization with Word2Vec - CBOW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9937" y="381127"/>
            <a:ext cx="97426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990725"/>
            <a:ext cx="1496756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code / program of the model : initialization with Word2Vec - CBOW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7710295"/>
            <a:ext cx="14967567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let’s just care the first 5 parameters because those would make an important difference.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493371" y="3091452"/>
            <a:ext cx="11301259" cy="4124960"/>
          </a:xfrm>
          <a:custGeom>
            <a:avLst/>
            <a:gdLst/>
            <a:ahLst/>
            <a:cxnLst/>
            <a:rect r="r" b="b" t="t" l="l"/>
            <a:pathLst>
              <a:path h="4124960" w="11301259">
                <a:moveTo>
                  <a:pt x="0" y="0"/>
                </a:moveTo>
                <a:lnTo>
                  <a:pt x="11301258" y="0"/>
                </a:lnTo>
                <a:lnTo>
                  <a:pt x="11301258" y="4124960"/>
                </a:lnTo>
                <a:lnTo>
                  <a:pt x="0" y="4124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9937" y="381127"/>
            <a:ext cx="97426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990725"/>
            <a:ext cx="1496756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code / program of the model : initialization with Word2Vec - CBOW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7710295"/>
            <a:ext cx="14967567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let’s just care the first 5 parameters because those would make an important difference.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that is, they are somewhat important and optimal for the best accuracy and precision score.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493371" y="3091452"/>
            <a:ext cx="11301259" cy="4124960"/>
          </a:xfrm>
          <a:custGeom>
            <a:avLst/>
            <a:gdLst/>
            <a:ahLst/>
            <a:cxnLst/>
            <a:rect r="r" b="b" t="t" l="l"/>
            <a:pathLst>
              <a:path h="4124960" w="11301259">
                <a:moveTo>
                  <a:pt x="0" y="0"/>
                </a:moveTo>
                <a:lnTo>
                  <a:pt x="11301258" y="0"/>
                </a:lnTo>
                <a:lnTo>
                  <a:pt x="11301258" y="4124960"/>
                </a:lnTo>
                <a:lnTo>
                  <a:pt x="0" y="4124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9937" y="381127"/>
            <a:ext cx="97426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990725"/>
            <a:ext cx="16051136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 would CBOW benefit more from this new data representation than the baselines ?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03638" y="3311012"/>
            <a:ext cx="11301259" cy="5947288"/>
          </a:xfrm>
          <a:custGeom>
            <a:avLst/>
            <a:gdLst/>
            <a:ahLst/>
            <a:cxnLst/>
            <a:rect r="r" b="b" t="t" l="l"/>
            <a:pathLst>
              <a:path h="5947288" w="11301259">
                <a:moveTo>
                  <a:pt x="0" y="0"/>
                </a:moveTo>
                <a:lnTo>
                  <a:pt x="11301259" y="0"/>
                </a:lnTo>
                <a:lnTo>
                  <a:pt x="11301259" y="5947288"/>
                </a:lnTo>
                <a:lnTo>
                  <a:pt x="0" y="59472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9937" y="381127"/>
            <a:ext cx="97426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90725"/>
            <a:ext cx="16051136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 would CBOW benefit more from this new data representation than the baselines ?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31606" y="253747"/>
            <a:ext cx="6397398" cy="3366631"/>
          </a:xfrm>
          <a:custGeom>
            <a:avLst/>
            <a:gdLst/>
            <a:ahLst/>
            <a:cxnLst/>
            <a:rect r="r" b="b" t="t" l="l"/>
            <a:pathLst>
              <a:path h="3366631" w="6397398">
                <a:moveTo>
                  <a:pt x="0" y="0"/>
                </a:moveTo>
                <a:lnTo>
                  <a:pt x="6397398" y="0"/>
                </a:lnTo>
                <a:lnTo>
                  <a:pt x="6397398" y="3366631"/>
                </a:lnTo>
                <a:lnTo>
                  <a:pt x="0" y="33666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9937" y="381127"/>
            <a:ext cx="97426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66925"/>
            <a:ext cx="946743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 would CBOW benefit more from this new data representation than the baselines ?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31606" y="253747"/>
            <a:ext cx="6397398" cy="3366631"/>
          </a:xfrm>
          <a:custGeom>
            <a:avLst/>
            <a:gdLst/>
            <a:ahLst/>
            <a:cxnLst/>
            <a:rect r="r" b="b" t="t" l="l"/>
            <a:pathLst>
              <a:path h="3366631" w="6397398">
                <a:moveTo>
                  <a:pt x="0" y="0"/>
                </a:moveTo>
                <a:lnTo>
                  <a:pt x="6397398" y="0"/>
                </a:lnTo>
                <a:lnTo>
                  <a:pt x="6397398" y="3366631"/>
                </a:lnTo>
                <a:lnTo>
                  <a:pt x="0" y="33666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9937" y="381127"/>
            <a:ext cx="97426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677528"/>
            <a:ext cx="16230600" cy="273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If we have n dimensions (or in our code, vector_size) and k windows and suppose that we are stopping at position t (we will call that position is center) then when running the program :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066925"/>
            <a:ext cx="946743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 would CBOW benefit more from this new data representation than the baselines ?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31606" y="253747"/>
            <a:ext cx="6397398" cy="3366631"/>
          </a:xfrm>
          <a:custGeom>
            <a:avLst/>
            <a:gdLst/>
            <a:ahLst/>
            <a:cxnLst/>
            <a:rect r="r" b="b" t="t" l="l"/>
            <a:pathLst>
              <a:path h="3366631" w="6397398">
                <a:moveTo>
                  <a:pt x="0" y="0"/>
                </a:moveTo>
                <a:lnTo>
                  <a:pt x="6397398" y="0"/>
                </a:lnTo>
                <a:lnTo>
                  <a:pt x="6397398" y="3366631"/>
                </a:lnTo>
                <a:lnTo>
                  <a:pt x="0" y="33666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9937" y="381127"/>
            <a:ext cx="97426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677528"/>
            <a:ext cx="16230600" cy="273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If we have n dimensions (or in our code, vector_size) and k windows and suppose that we are stopping at position t (we will call that position is center) then when running the program :</a:t>
            </a:r>
          </a:p>
          <a:p>
            <a:pPr algn="l">
              <a:lnSpc>
                <a:spcPts val="3640"/>
              </a:lnSpc>
            </a:pP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Firstly, the model will try to convert the words into vectors / numbers that could be placed inside that n dimensions. it could be any number.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066925"/>
            <a:ext cx="946743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 would CBOW benefit more from this new data representation than the baselines ?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31606" y="253747"/>
            <a:ext cx="6397398" cy="3366631"/>
          </a:xfrm>
          <a:custGeom>
            <a:avLst/>
            <a:gdLst/>
            <a:ahLst/>
            <a:cxnLst/>
            <a:rect r="r" b="b" t="t" l="l"/>
            <a:pathLst>
              <a:path h="3366631" w="6397398">
                <a:moveTo>
                  <a:pt x="0" y="0"/>
                </a:moveTo>
                <a:lnTo>
                  <a:pt x="6397398" y="0"/>
                </a:lnTo>
                <a:lnTo>
                  <a:pt x="6397398" y="3366631"/>
                </a:lnTo>
                <a:lnTo>
                  <a:pt x="0" y="33666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9937" y="381127"/>
            <a:ext cx="97426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677528"/>
            <a:ext cx="16230600" cy="319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If we have n dimensions (or in our code, vector_size) and k windows and suppose that we are stopping at position t (we will call that position is center) then when running the program :</a:t>
            </a:r>
          </a:p>
          <a:p>
            <a:pPr algn="l">
              <a:lnSpc>
                <a:spcPts val="3640"/>
              </a:lnSpc>
            </a:pP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Firstly, the model will try to convert the words into vectors / numbers that could be placed inside that n dimensions. it could be any number.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model is now in the center - it is like saying that it is in the index t and is doing the prediction.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066925"/>
            <a:ext cx="946743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 would CBOW benefit more from this new data representation than the baselines ?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31606" y="253747"/>
            <a:ext cx="6397398" cy="3366631"/>
          </a:xfrm>
          <a:custGeom>
            <a:avLst/>
            <a:gdLst/>
            <a:ahLst/>
            <a:cxnLst/>
            <a:rect r="r" b="b" t="t" l="l"/>
            <a:pathLst>
              <a:path h="3366631" w="6397398">
                <a:moveTo>
                  <a:pt x="0" y="0"/>
                </a:moveTo>
                <a:lnTo>
                  <a:pt x="6397398" y="0"/>
                </a:lnTo>
                <a:lnTo>
                  <a:pt x="6397398" y="3366631"/>
                </a:lnTo>
                <a:lnTo>
                  <a:pt x="0" y="33666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9937" y="381127"/>
            <a:ext cx="97426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677528"/>
            <a:ext cx="16230600" cy="456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If we have n dimensions (or in our code, vector_size) and k windows and suppose that we are stopping at position t (we will call that position is center) then when running the program :</a:t>
            </a:r>
          </a:p>
          <a:p>
            <a:pPr algn="l">
              <a:lnSpc>
                <a:spcPts val="3640"/>
              </a:lnSpc>
            </a:pP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Firstly, the model will try to convert the words into vectors / numbers that could be placed inside that n dimensions. it could be any number.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model is now in the center - it is like saying that it is in the index t and is doing the prediction.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Based on the k windows that we have defined, it will take the vector values of k words to the left and k words to the right then sum it up and it computes the average :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066925"/>
            <a:ext cx="946743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 would CBOW benefit more from this new data representation than the baselines ?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31606" y="253747"/>
            <a:ext cx="6397398" cy="3366631"/>
          </a:xfrm>
          <a:custGeom>
            <a:avLst/>
            <a:gdLst/>
            <a:ahLst/>
            <a:cxnLst/>
            <a:rect r="r" b="b" t="t" l="l"/>
            <a:pathLst>
              <a:path h="3366631" w="6397398">
                <a:moveTo>
                  <a:pt x="0" y="0"/>
                </a:moveTo>
                <a:lnTo>
                  <a:pt x="6397398" y="0"/>
                </a:lnTo>
                <a:lnTo>
                  <a:pt x="6397398" y="3366631"/>
                </a:lnTo>
                <a:lnTo>
                  <a:pt x="0" y="33666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677528"/>
            <a:ext cx="16230600" cy="456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If we have n dimensions (or in our code, vector_size) and k windows and suppose that we are stopping at position t (we will call that position is center) then when running the program :</a:t>
            </a:r>
          </a:p>
          <a:p>
            <a:pPr algn="l">
              <a:lnSpc>
                <a:spcPts val="3640"/>
              </a:lnSpc>
            </a:pP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Firstly, the model will try to convert the words into vectors / numbers that could be placed inside that n dimensions. it could be any number.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model is now in the center - it is like saying that it is in the index t and is doing the prediction.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Based on the k windows that we have defined, it will take the vector values of k words to the left and k words to the right then sum it up and it computes the average :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426205" y="7520119"/>
            <a:ext cx="3805401" cy="874070"/>
          </a:xfrm>
          <a:custGeom>
            <a:avLst/>
            <a:gdLst/>
            <a:ahLst/>
            <a:cxnLst/>
            <a:rect r="r" b="b" t="t" l="l"/>
            <a:pathLst>
              <a:path h="874070" w="3805401">
                <a:moveTo>
                  <a:pt x="0" y="0"/>
                </a:moveTo>
                <a:lnTo>
                  <a:pt x="3805401" y="0"/>
                </a:lnTo>
                <a:lnTo>
                  <a:pt x="3805401" y="874070"/>
                </a:lnTo>
                <a:lnTo>
                  <a:pt x="0" y="8740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9937" y="381127"/>
            <a:ext cx="97426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066925"/>
            <a:ext cx="946743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 would CBOW benefit more from this new data representation than the baselines ?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31606" y="253747"/>
            <a:ext cx="6397398" cy="3366631"/>
          </a:xfrm>
          <a:custGeom>
            <a:avLst/>
            <a:gdLst/>
            <a:ahLst/>
            <a:cxnLst/>
            <a:rect r="r" b="b" t="t" l="l"/>
            <a:pathLst>
              <a:path h="3366631" w="6397398">
                <a:moveTo>
                  <a:pt x="0" y="0"/>
                </a:moveTo>
                <a:lnTo>
                  <a:pt x="6397398" y="0"/>
                </a:lnTo>
                <a:lnTo>
                  <a:pt x="6397398" y="3366631"/>
                </a:lnTo>
                <a:lnTo>
                  <a:pt x="0" y="33666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677528"/>
            <a:ext cx="16230600" cy="456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If we have n dimensions (or in our code, vector_size) and k windows and suppose that we are stopping at position t (we will call that position is center) then when running the program :</a:t>
            </a:r>
          </a:p>
          <a:p>
            <a:pPr algn="l">
              <a:lnSpc>
                <a:spcPts val="3640"/>
              </a:lnSpc>
            </a:pP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Firstly, the model will try to convert the words into vectors / numbers that could be placed inside that n dimensions. it could be any number.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model is now in the center - it is like saying that it is in the index t and is doing the prediction.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Based on the k windows that we have defined, it will take the vector values of k words to the left and k words to the right then sum it up and it computes the average :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432852" y="7513014"/>
            <a:ext cx="3798754" cy="872543"/>
          </a:xfrm>
          <a:custGeom>
            <a:avLst/>
            <a:gdLst/>
            <a:ahLst/>
            <a:cxnLst/>
            <a:rect r="r" b="b" t="t" l="l"/>
            <a:pathLst>
              <a:path h="872543" w="3798754">
                <a:moveTo>
                  <a:pt x="0" y="0"/>
                </a:moveTo>
                <a:lnTo>
                  <a:pt x="3798754" y="0"/>
                </a:lnTo>
                <a:lnTo>
                  <a:pt x="3798754" y="872543"/>
                </a:lnTo>
                <a:lnTo>
                  <a:pt x="0" y="8725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9937" y="381127"/>
            <a:ext cx="97426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8225" y="8560055"/>
            <a:ext cx="16230600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Then that the average vector value will be compared with other vector values. The closest value to the average vector will be the word that the model will choose from.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066925"/>
            <a:ext cx="946743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 would CBOW benefit more from this new data representation than the baselines ?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31606" y="253747"/>
            <a:ext cx="6397398" cy="3366631"/>
          </a:xfrm>
          <a:custGeom>
            <a:avLst/>
            <a:gdLst/>
            <a:ahLst/>
            <a:cxnLst/>
            <a:rect r="r" b="b" t="t" l="l"/>
            <a:pathLst>
              <a:path h="3366631" w="6397398">
                <a:moveTo>
                  <a:pt x="0" y="0"/>
                </a:moveTo>
                <a:lnTo>
                  <a:pt x="6397398" y="0"/>
                </a:lnTo>
                <a:lnTo>
                  <a:pt x="6397398" y="3366631"/>
                </a:lnTo>
                <a:lnTo>
                  <a:pt x="0" y="33666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677528"/>
            <a:ext cx="16230600" cy="456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If we have n dimensions (or in our code, vector_size) and k windows and suppose that we are stopping at position t (we will call that position is center) then when running the program :</a:t>
            </a:r>
          </a:p>
          <a:p>
            <a:pPr algn="l">
              <a:lnSpc>
                <a:spcPts val="3640"/>
              </a:lnSpc>
            </a:pP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Firstly, the model will try to convert the words into vectors / numbers that could be placed inside that n dimensions. it could be any number.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model is now in the center - it is like saying that it is in the index t and is doing the prediction.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Based on the k windows that we have defined, it will take the vector values of k words to the left and k words to the right then sum it up and it computes the average :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432852" y="7513014"/>
            <a:ext cx="3798754" cy="872543"/>
          </a:xfrm>
          <a:custGeom>
            <a:avLst/>
            <a:gdLst/>
            <a:ahLst/>
            <a:cxnLst/>
            <a:rect r="r" b="b" t="t" l="l"/>
            <a:pathLst>
              <a:path h="872543" w="3798754">
                <a:moveTo>
                  <a:pt x="0" y="0"/>
                </a:moveTo>
                <a:lnTo>
                  <a:pt x="3798754" y="0"/>
                </a:lnTo>
                <a:lnTo>
                  <a:pt x="3798754" y="872543"/>
                </a:lnTo>
                <a:lnTo>
                  <a:pt x="0" y="8725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9937" y="381127"/>
            <a:ext cx="97426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8225" y="8560055"/>
            <a:ext cx="16230600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Then that the average vector value will be compared with other vector values. The closest value to the average vector will be the word that the model will choose from.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066925"/>
            <a:ext cx="946743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 would CBOW benefit more from this new data representation than the baselines 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8404" y="9637015"/>
            <a:ext cx="162306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continues the training loop with the new t + 1 until it is finished...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83077" y="424010"/>
            <a:ext cx="6094645" cy="3047323"/>
          </a:xfrm>
          <a:custGeom>
            <a:avLst/>
            <a:gdLst/>
            <a:ahLst/>
            <a:cxnLst/>
            <a:rect r="r" b="b" t="t" l="l"/>
            <a:pathLst>
              <a:path h="3047323" w="6094645">
                <a:moveTo>
                  <a:pt x="0" y="0"/>
                </a:moveTo>
                <a:lnTo>
                  <a:pt x="6094646" y="0"/>
                </a:lnTo>
                <a:lnTo>
                  <a:pt x="6094646" y="3047323"/>
                </a:lnTo>
                <a:lnTo>
                  <a:pt x="0" y="30473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9937" y="381127"/>
            <a:ext cx="97426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90725"/>
            <a:ext cx="1605113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Suppose that we have 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671974"/>
            <a:ext cx="9412566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[...,"this", "movie", "is", "bad", "which", "to", "be", "fair", "it", "is", "understandable",...] 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with dimensions = 3, windows = 3 and the center is at “bad”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83077" y="424010"/>
            <a:ext cx="6094645" cy="3047323"/>
          </a:xfrm>
          <a:custGeom>
            <a:avLst/>
            <a:gdLst/>
            <a:ahLst/>
            <a:cxnLst/>
            <a:rect r="r" b="b" t="t" l="l"/>
            <a:pathLst>
              <a:path h="3047323" w="6094645">
                <a:moveTo>
                  <a:pt x="0" y="0"/>
                </a:moveTo>
                <a:lnTo>
                  <a:pt x="6094646" y="0"/>
                </a:lnTo>
                <a:lnTo>
                  <a:pt x="6094646" y="3047323"/>
                </a:lnTo>
                <a:lnTo>
                  <a:pt x="0" y="30473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9937" y="381127"/>
            <a:ext cx="97426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90725"/>
            <a:ext cx="1605113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Suppose that we have 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671974"/>
            <a:ext cx="9412566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[...,"this", "movie", "is", "bad", "which", "to", "be", "fair", "it", "is", "understandable",...] 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with dimensions = 3, windows = 3 and the center is at “bad”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135542"/>
            <a:ext cx="16230600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Firstly, the words should be converted into vector such as:</a:t>
            </a:r>
          </a:p>
          <a:p>
            <a:pPr algn="l" marL="1122688" indent="-374229" lvl="2">
              <a:lnSpc>
                <a:spcPts val="364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“this” → [0.5, -0.17, 1] “movie” → [0.36, 0.69, -0.67] “is” → [..., ..., ...] 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83077" y="424010"/>
            <a:ext cx="6094645" cy="3047323"/>
          </a:xfrm>
          <a:custGeom>
            <a:avLst/>
            <a:gdLst/>
            <a:ahLst/>
            <a:cxnLst/>
            <a:rect r="r" b="b" t="t" l="l"/>
            <a:pathLst>
              <a:path h="3047323" w="6094645">
                <a:moveTo>
                  <a:pt x="0" y="0"/>
                </a:moveTo>
                <a:lnTo>
                  <a:pt x="6094646" y="0"/>
                </a:lnTo>
                <a:lnTo>
                  <a:pt x="6094646" y="3047323"/>
                </a:lnTo>
                <a:lnTo>
                  <a:pt x="0" y="30473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9937" y="381127"/>
            <a:ext cx="97426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90725"/>
            <a:ext cx="1605113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Suppose that we have 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671974"/>
            <a:ext cx="9412566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[...,"this", "movie", "is", "bad", "which", "to", "be", "fair", "it", "is", "understandable",...] 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with dimensions = 3, windows = 3 and the center is at “bad”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135542"/>
            <a:ext cx="16230600" cy="319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Firstly, the words should be converted into vector such as:</a:t>
            </a:r>
          </a:p>
          <a:p>
            <a:pPr algn="l" marL="1122688" indent="-374229" lvl="2">
              <a:lnSpc>
                <a:spcPts val="364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“this” → [0.5, -0.17, 1] “movie” → [0.36, 0.69, -0.67] “is” → [..., ..., ...] </a:t>
            </a:r>
          </a:p>
          <a:p>
            <a:pPr algn="l">
              <a:lnSpc>
                <a:spcPts val="3640"/>
              </a:lnSpc>
            </a:pP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is important to note that, at the index of “bad”, this is what the model is looking :</a:t>
            </a:r>
          </a:p>
          <a:p>
            <a:pPr algn="l" marL="1122688" indent="-374229" lvl="2">
              <a:lnSpc>
                <a:spcPts val="364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[“this”, “movie”, “is”, “___”, “which”, “to”, “be”]</a:t>
            </a:r>
          </a:p>
          <a:p>
            <a:pPr algn="l" marL="1684031" indent="-421008" lvl="3">
              <a:lnSpc>
                <a:spcPts val="3640"/>
              </a:lnSpc>
              <a:buFont typeface="Arial"/>
              <a:buChar char="￭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Window to the left we have [“this”, “movie”, “is”]</a:t>
            </a:r>
          </a:p>
          <a:p>
            <a:pPr algn="l" marL="1684031" indent="-421008" lvl="3">
              <a:lnSpc>
                <a:spcPts val="3640"/>
              </a:lnSpc>
              <a:buFont typeface="Arial"/>
              <a:buChar char="￭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Window to the right we have : [“which”, “to”, “be”]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83077" y="424010"/>
            <a:ext cx="6094645" cy="3047323"/>
          </a:xfrm>
          <a:custGeom>
            <a:avLst/>
            <a:gdLst/>
            <a:ahLst/>
            <a:cxnLst/>
            <a:rect r="r" b="b" t="t" l="l"/>
            <a:pathLst>
              <a:path h="3047323" w="6094645">
                <a:moveTo>
                  <a:pt x="0" y="0"/>
                </a:moveTo>
                <a:lnTo>
                  <a:pt x="6094646" y="0"/>
                </a:lnTo>
                <a:lnTo>
                  <a:pt x="6094646" y="3047323"/>
                </a:lnTo>
                <a:lnTo>
                  <a:pt x="0" y="30473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9937" y="381127"/>
            <a:ext cx="97426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90725"/>
            <a:ext cx="1605113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Suppose that we have 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671974"/>
            <a:ext cx="9412566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[...,"this", "movie", "is", "bad", "which", "to", "be", "fair", "it", "is", "understandable",...] 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with dimensions = 3, windows = 3 and the center is at “bad”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135542"/>
            <a:ext cx="16230600" cy="410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Firstly, the words should be converted into vector such as:</a:t>
            </a:r>
          </a:p>
          <a:p>
            <a:pPr algn="l" marL="1122688" indent="-374229" lvl="2">
              <a:lnSpc>
                <a:spcPts val="364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“this” → [0.5, -0.17, 1] “movie” → [0.36, 0.69, -0.67] “is” → [..., ..., ...] </a:t>
            </a:r>
          </a:p>
          <a:p>
            <a:pPr algn="l">
              <a:lnSpc>
                <a:spcPts val="3640"/>
              </a:lnSpc>
            </a:pP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is important to note that, at the index of “bad”, this is what the model is looking :</a:t>
            </a:r>
          </a:p>
          <a:p>
            <a:pPr algn="l" marL="1122688" indent="-374229" lvl="2">
              <a:lnSpc>
                <a:spcPts val="364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[“this”, “movie”, “is”, “___”, “which”, “to”, “be”]</a:t>
            </a:r>
          </a:p>
          <a:p>
            <a:pPr algn="l" marL="1684031" indent="-421008" lvl="3">
              <a:lnSpc>
                <a:spcPts val="3640"/>
              </a:lnSpc>
              <a:buFont typeface="Arial"/>
              <a:buChar char="￭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Window to the left we have [“this”, “movie”, “is”]</a:t>
            </a:r>
          </a:p>
          <a:p>
            <a:pPr algn="l" marL="1684031" indent="-421008" lvl="3">
              <a:lnSpc>
                <a:spcPts val="3640"/>
              </a:lnSpc>
              <a:buFont typeface="Arial"/>
              <a:buChar char="￭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Window to the right we have : [“which”, “to”, “be”]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model will take the vector value for each of the words from those windows and compute the average and find the closest value.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83077" y="424010"/>
            <a:ext cx="6094645" cy="3047323"/>
          </a:xfrm>
          <a:custGeom>
            <a:avLst/>
            <a:gdLst/>
            <a:ahLst/>
            <a:cxnLst/>
            <a:rect r="r" b="b" t="t" l="l"/>
            <a:pathLst>
              <a:path h="3047323" w="6094645">
                <a:moveTo>
                  <a:pt x="0" y="0"/>
                </a:moveTo>
                <a:lnTo>
                  <a:pt x="6094646" y="0"/>
                </a:lnTo>
                <a:lnTo>
                  <a:pt x="6094646" y="3047323"/>
                </a:lnTo>
                <a:lnTo>
                  <a:pt x="0" y="30473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9937" y="381127"/>
            <a:ext cx="97426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90725"/>
            <a:ext cx="1605113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Suppose that we have 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671974"/>
            <a:ext cx="9412566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[...,"this", "movie", "is", "bad", "which", "to", "be", "fair", "it", "is", "understandable",...] 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with dimensions = 3, windows = 3 and the center is at “bad”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9175" y="4135542"/>
            <a:ext cx="16230600" cy="547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Firstly, the words should be converted into vector such as:</a:t>
            </a:r>
          </a:p>
          <a:p>
            <a:pPr algn="l" marL="1122688" indent="-374229" lvl="2">
              <a:lnSpc>
                <a:spcPts val="364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“this” → [0.5, -0.17, 1] “movie” → [0.36, 0.69, -0.67] “is” → [..., ..., ...] </a:t>
            </a:r>
          </a:p>
          <a:p>
            <a:pPr algn="l">
              <a:lnSpc>
                <a:spcPts val="3640"/>
              </a:lnSpc>
            </a:pP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is important to note that, at the index of “bad”, this is what the model is looking :</a:t>
            </a:r>
          </a:p>
          <a:p>
            <a:pPr algn="l" marL="1122688" indent="-374229" lvl="2">
              <a:lnSpc>
                <a:spcPts val="364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[“this”, “movie”, “is”, “___”, “which”, “to”, “be”]</a:t>
            </a:r>
          </a:p>
          <a:p>
            <a:pPr algn="l" marL="1684031" indent="-421008" lvl="3">
              <a:lnSpc>
                <a:spcPts val="3640"/>
              </a:lnSpc>
              <a:buFont typeface="Arial"/>
              <a:buChar char="￭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Window to the left we have [“this”, “movie”, “is”]</a:t>
            </a:r>
          </a:p>
          <a:p>
            <a:pPr algn="l" marL="1684031" indent="-421008" lvl="3">
              <a:lnSpc>
                <a:spcPts val="3640"/>
              </a:lnSpc>
              <a:buFont typeface="Arial"/>
              <a:buChar char="￭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Window to the right we have : [“which”, “to”, “be”]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model will take the vector value for each of the words from those windows and compute the average and find the closest value.</a:t>
            </a:r>
          </a:p>
          <a:p>
            <a:pPr algn="l">
              <a:lnSpc>
                <a:spcPts val="3640"/>
              </a:lnSpc>
            </a:pP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...and that value will be the model prediction of the word. It could be “bad”, it could be “mediocre”, it could be “breathtaking”, or anything else..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9937" y="381127"/>
            <a:ext cx="97426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69071" y="5076825"/>
            <a:ext cx="13760555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 you can see... that is our important change...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9937" y="381127"/>
            <a:ext cx="97426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990725"/>
            <a:ext cx="1376055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code / program of the model : vectorization...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3137527"/>
            <a:ext cx="11301259" cy="4011947"/>
          </a:xfrm>
          <a:custGeom>
            <a:avLst/>
            <a:gdLst/>
            <a:ahLst/>
            <a:cxnLst/>
            <a:rect r="r" b="b" t="t" l="l"/>
            <a:pathLst>
              <a:path h="4011947" w="11301259">
                <a:moveTo>
                  <a:pt x="0" y="0"/>
                </a:moveTo>
                <a:lnTo>
                  <a:pt x="11301258" y="0"/>
                </a:lnTo>
                <a:lnTo>
                  <a:pt x="11301258" y="4011946"/>
                </a:lnTo>
                <a:lnTo>
                  <a:pt x="0" y="40119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9937" y="381127"/>
            <a:ext cx="97426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90725"/>
            <a:ext cx="1376055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code / program of the model : vectorization...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9937" y="381127"/>
            <a:ext cx="97426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990725"/>
            <a:ext cx="13760555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code / program of the model : Logistic Regression and Bayes Classification... 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285490"/>
            <a:ext cx="8115300" cy="2055554"/>
          </a:xfrm>
          <a:custGeom>
            <a:avLst/>
            <a:gdLst/>
            <a:ahLst/>
            <a:cxnLst/>
            <a:rect r="r" b="b" t="t" l="l"/>
            <a:pathLst>
              <a:path h="2055554" w="8115300">
                <a:moveTo>
                  <a:pt x="0" y="0"/>
                </a:moveTo>
                <a:lnTo>
                  <a:pt x="8115300" y="0"/>
                </a:lnTo>
                <a:lnTo>
                  <a:pt x="8115300" y="2055554"/>
                </a:lnTo>
                <a:lnTo>
                  <a:pt x="0" y="205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7584" b="-939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92577" y="3285490"/>
            <a:ext cx="5313878" cy="4483229"/>
          </a:xfrm>
          <a:custGeom>
            <a:avLst/>
            <a:gdLst/>
            <a:ahLst/>
            <a:cxnLst/>
            <a:rect r="r" b="b" t="t" l="l"/>
            <a:pathLst>
              <a:path h="4483229" w="5313878">
                <a:moveTo>
                  <a:pt x="0" y="0"/>
                </a:moveTo>
                <a:lnTo>
                  <a:pt x="5313878" y="0"/>
                </a:lnTo>
                <a:lnTo>
                  <a:pt x="5313878" y="4483229"/>
                </a:lnTo>
                <a:lnTo>
                  <a:pt x="0" y="4483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23236" y="5527105"/>
            <a:ext cx="4950474" cy="4665081"/>
          </a:xfrm>
          <a:custGeom>
            <a:avLst/>
            <a:gdLst/>
            <a:ahLst/>
            <a:cxnLst/>
            <a:rect r="r" b="b" t="t" l="l"/>
            <a:pathLst>
              <a:path h="4665081" w="4950474">
                <a:moveTo>
                  <a:pt x="0" y="0"/>
                </a:moveTo>
                <a:lnTo>
                  <a:pt x="4950474" y="0"/>
                </a:lnTo>
                <a:lnTo>
                  <a:pt x="4950474" y="4665080"/>
                </a:lnTo>
                <a:lnTo>
                  <a:pt x="0" y="4665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9937" y="381127"/>
            <a:ext cx="97426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990725"/>
            <a:ext cx="13760555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code / program of the model : Logistic Regression and Bayes Classification...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58687" y="8677910"/>
            <a:ext cx="1376055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you get the idea...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980113" y="4114800"/>
          <a:ext cx="9971441" cy="2438400"/>
        </p:xfrm>
        <a:graphic>
          <a:graphicData uri="http://schemas.openxmlformats.org/drawingml/2006/table">
            <a:tbl>
              <a:tblPr/>
              <a:tblGrid>
                <a:gridCol w="5243985"/>
                <a:gridCol w="2363728"/>
                <a:gridCol w="2363728"/>
              </a:tblGrid>
              <a:tr h="812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New Architectures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Training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Testing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Word2Vec + Logistic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88.70%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88.58%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Word2Vec + Naïve Bayes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82.26%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81.58%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49937" y="381127"/>
            <a:ext cx="97426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90725"/>
            <a:ext cx="1376055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scores of embedding go here.... 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980113" y="4114800"/>
          <a:ext cx="9971441" cy="2438400"/>
        </p:xfrm>
        <a:graphic>
          <a:graphicData uri="http://schemas.openxmlformats.org/drawingml/2006/table">
            <a:tbl>
              <a:tblPr/>
              <a:tblGrid>
                <a:gridCol w="5243985"/>
                <a:gridCol w="2363728"/>
                <a:gridCol w="2363728"/>
              </a:tblGrid>
              <a:tr h="812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New Architectures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Training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Testing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Word2Vec + Logistic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88.70%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88.58%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Word2Vec + Naïve Bayes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82.26%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81.58%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49937" y="381127"/>
            <a:ext cx="97426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90725"/>
            <a:ext cx="1376055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scores of embedding go here....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63723" y="7906067"/>
            <a:ext cx="1376055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remarks... some improvement! right?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29141" y="2804996"/>
            <a:ext cx="11301259" cy="5424604"/>
          </a:xfrm>
          <a:custGeom>
            <a:avLst/>
            <a:gdLst/>
            <a:ahLst/>
            <a:cxnLst/>
            <a:rect r="r" b="b" t="t" l="l"/>
            <a:pathLst>
              <a:path h="5424604" w="11301259">
                <a:moveTo>
                  <a:pt x="0" y="0"/>
                </a:moveTo>
                <a:lnTo>
                  <a:pt x="11301259" y="0"/>
                </a:lnTo>
                <a:lnTo>
                  <a:pt x="11301259" y="5424604"/>
                </a:lnTo>
                <a:lnTo>
                  <a:pt x="0" y="54246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9937" y="381127"/>
            <a:ext cx="974264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90725"/>
            <a:ext cx="1376055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not really...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99493" y="8677910"/>
            <a:ext cx="13760555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newer model still fails to identify the mixed reviews, treating of the negative words and positive words...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9076" y="3276125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233458" y="3853313"/>
            <a:ext cx="2580839" cy="2580374"/>
            <a:chOff x="0" y="0"/>
            <a:chExt cx="876432" cy="8762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6432" cy="876274"/>
            </a:xfrm>
            <a:custGeom>
              <a:avLst/>
              <a:gdLst/>
              <a:ahLst/>
              <a:cxnLst/>
              <a:rect r="r" b="b" t="t" l="l"/>
              <a:pathLst>
                <a:path h="876274" w="876432">
                  <a:moveTo>
                    <a:pt x="0" y="0"/>
                  </a:moveTo>
                  <a:lnTo>
                    <a:pt x="876432" y="0"/>
                  </a:lnTo>
                  <a:lnTo>
                    <a:pt x="876432" y="876274"/>
                  </a:lnTo>
                  <a:lnTo>
                    <a:pt x="0" y="876274"/>
                  </a:lnTo>
                  <a:close/>
                </a:path>
              </a:pathLst>
            </a:custGeom>
            <a:solidFill>
              <a:srgbClr val="F0EFE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76432" cy="914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473703" y="2386997"/>
            <a:ext cx="10010172" cy="5513005"/>
            <a:chOff x="0" y="0"/>
            <a:chExt cx="3399374" cy="18721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99374" cy="1872172"/>
            </a:xfrm>
            <a:custGeom>
              <a:avLst/>
              <a:gdLst/>
              <a:ahLst/>
              <a:cxnLst/>
              <a:rect r="r" b="b" t="t" l="l"/>
              <a:pathLst>
                <a:path h="1872172" w="3399374">
                  <a:moveTo>
                    <a:pt x="0" y="0"/>
                  </a:moveTo>
                  <a:lnTo>
                    <a:pt x="3399374" y="0"/>
                  </a:lnTo>
                  <a:lnTo>
                    <a:pt x="3399374" y="1872172"/>
                  </a:lnTo>
                  <a:lnTo>
                    <a:pt x="0" y="1872172"/>
                  </a:lnTo>
                  <a:close/>
                </a:path>
              </a:pathLst>
            </a:custGeom>
            <a:solidFill>
              <a:srgbClr val="F0EFE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399374" cy="1910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684216" y="4300087"/>
            <a:ext cx="1679323" cy="1685452"/>
          </a:xfrm>
          <a:custGeom>
            <a:avLst/>
            <a:gdLst/>
            <a:ahLst/>
            <a:cxnLst/>
            <a:rect r="r" b="b" t="t" l="l"/>
            <a:pathLst>
              <a:path h="1685452" w="1679323">
                <a:moveTo>
                  <a:pt x="0" y="0"/>
                </a:moveTo>
                <a:lnTo>
                  <a:pt x="1679323" y="0"/>
                </a:lnTo>
                <a:lnTo>
                  <a:pt x="1679323" y="1685452"/>
                </a:lnTo>
                <a:lnTo>
                  <a:pt x="0" y="16854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57600" y="4324350"/>
            <a:ext cx="7880468" cy="192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9"/>
              </a:lnSpc>
            </a:pPr>
            <a:r>
              <a:rPr lang="en-US" b="true" sz="7945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The Role of the AI Assistant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498" y="2152286"/>
            <a:ext cx="7956761" cy="1683731"/>
            <a:chOff x="0" y="0"/>
            <a:chExt cx="2095608" cy="4434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5608" cy="443452"/>
            </a:xfrm>
            <a:custGeom>
              <a:avLst/>
              <a:gdLst/>
              <a:ahLst/>
              <a:cxnLst/>
              <a:rect r="r" b="b" t="t" l="l"/>
              <a:pathLst>
                <a:path h="443452" w="2095608">
                  <a:moveTo>
                    <a:pt x="0" y="0"/>
                  </a:moveTo>
                  <a:lnTo>
                    <a:pt x="2095608" y="0"/>
                  </a:lnTo>
                  <a:lnTo>
                    <a:pt x="2095608" y="443452"/>
                  </a:lnTo>
                  <a:lnTo>
                    <a:pt x="0" y="44345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95608" cy="481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08698" y="1952261"/>
            <a:ext cx="7282361" cy="1873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76"/>
              </a:lnSpc>
            </a:pPr>
            <a:r>
              <a:rPr lang="en-US" b="true" sz="10982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Role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71498" y="3753068"/>
            <a:ext cx="15545005" cy="5026113"/>
            <a:chOff x="0" y="0"/>
            <a:chExt cx="4094158" cy="13237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94157" cy="1323750"/>
            </a:xfrm>
            <a:custGeom>
              <a:avLst/>
              <a:gdLst/>
              <a:ahLst/>
              <a:cxnLst/>
              <a:rect r="r" b="b" t="t" l="l"/>
              <a:pathLst>
                <a:path h="1323750" w="4094157">
                  <a:moveTo>
                    <a:pt x="0" y="0"/>
                  </a:moveTo>
                  <a:lnTo>
                    <a:pt x="4094157" y="0"/>
                  </a:lnTo>
                  <a:lnTo>
                    <a:pt x="4094157" y="1323750"/>
                  </a:lnTo>
                  <a:lnTo>
                    <a:pt x="0" y="1323750"/>
                  </a:lnTo>
                  <a:close/>
                </a:path>
              </a:pathLst>
            </a:custGeom>
            <a:solidFill>
              <a:srgbClr val="F0EFE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94158" cy="136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1329452">
            <a:off x="14986796" y="651973"/>
            <a:ext cx="2339468" cy="2348007"/>
          </a:xfrm>
          <a:custGeom>
            <a:avLst/>
            <a:gdLst/>
            <a:ahLst/>
            <a:cxnLst/>
            <a:rect r="r" b="b" t="t" l="l"/>
            <a:pathLst>
              <a:path h="2348007" w="2339468">
                <a:moveTo>
                  <a:pt x="0" y="0"/>
                </a:moveTo>
                <a:lnTo>
                  <a:pt x="2339469" y="0"/>
                </a:lnTo>
                <a:lnTo>
                  <a:pt x="2339469" y="2348007"/>
                </a:lnTo>
                <a:lnTo>
                  <a:pt x="0" y="23480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816101" y="7095954"/>
            <a:ext cx="12655798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412450" y="3921760"/>
            <a:ext cx="13412648" cy="4443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The </a:t>
            </a:r>
            <a:r>
              <a:rPr lang="en-US" sz="28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AI acted as an educational collaborator</a:t>
            </a:r>
          </a:p>
          <a:p>
            <a:pPr algn="l">
              <a:lnSpc>
                <a:spcPts val="3920"/>
              </a:lnSpc>
            </a:pPr>
          </a:p>
          <a:p>
            <a:pPr algn="l" marL="1209045" indent="-403015" lvl="2">
              <a:lnSpc>
                <a:spcPts val="3920"/>
              </a:lnSpc>
              <a:buFont typeface="Arial"/>
              <a:buChar char="⚬"/>
            </a:pPr>
            <a:r>
              <a:rPr lang="en-US" sz="28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Architectural Engineering: Guided the transition from basic counting pipelines to dense semantic networks (Word2Vec).</a:t>
            </a:r>
          </a:p>
          <a:p>
            <a:pPr algn="l" marL="1209045" indent="-403015" lvl="2">
              <a:lnSpc>
                <a:spcPts val="3920"/>
              </a:lnSpc>
              <a:buFont typeface="Arial"/>
              <a:buChar char="⚬"/>
            </a:pPr>
            <a:r>
              <a:rPr lang="en-US" sz="28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Performance optimization: Analyze the accuracy and suggest improvements to get the best score in the final results</a:t>
            </a:r>
          </a:p>
          <a:p>
            <a:pPr algn="l" marL="1209045" indent="-403015" lvl="2">
              <a:lnSpc>
                <a:spcPts val="3920"/>
              </a:lnSpc>
              <a:buFont typeface="Arial"/>
              <a:buChar char="⚬"/>
            </a:pPr>
            <a:r>
              <a:rPr lang="en-US" sz="2800">
                <a:solidFill>
                  <a:srgbClr val="000000"/>
                </a:solidFill>
                <a:latin typeface="Inter 1"/>
                <a:ea typeface="Inter 1"/>
                <a:cs typeface="Inter 1"/>
                <a:sym typeface="Inter 1"/>
              </a:rPr>
              <a:t>Deep Diagnostics: Helped categorize abstract model failures into concrete Natural language processing challenges</a:t>
            </a:r>
          </a:p>
          <a:p>
            <a:pPr algn="l">
              <a:lnSpc>
                <a:spcPts val="3920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-2478154">
            <a:off x="302092" y="7351040"/>
            <a:ext cx="2256512" cy="2558931"/>
          </a:xfrm>
          <a:custGeom>
            <a:avLst/>
            <a:gdLst/>
            <a:ahLst/>
            <a:cxnLst/>
            <a:rect r="r" b="b" t="t" l="l"/>
            <a:pathLst>
              <a:path h="2558931" w="2256512">
                <a:moveTo>
                  <a:pt x="0" y="0"/>
                </a:moveTo>
                <a:lnTo>
                  <a:pt x="2256512" y="0"/>
                </a:lnTo>
                <a:lnTo>
                  <a:pt x="2256512" y="2558932"/>
                </a:lnTo>
                <a:lnTo>
                  <a:pt x="0" y="25589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0587" y="770817"/>
            <a:ext cx="8487483" cy="8487483"/>
          </a:xfrm>
          <a:custGeom>
            <a:avLst/>
            <a:gdLst/>
            <a:ahLst/>
            <a:cxnLst/>
            <a:rect r="r" b="b" t="t" l="l"/>
            <a:pathLst>
              <a:path h="8487483" w="8487483">
                <a:moveTo>
                  <a:pt x="0" y="0"/>
                </a:moveTo>
                <a:lnTo>
                  <a:pt x="8487483" y="0"/>
                </a:lnTo>
                <a:lnTo>
                  <a:pt x="8487483" y="8487483"/>
                </a:lnTo>
                <a:lnTo>
                  <a:pt x="0" y="84874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09795" y="2799197"/>
            <a:ext cx="13268410" cy="26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2"/>
              </a:lnSpc>
            </a:pPr>
            <a:r>
              <a:rPr lang="en-US" b="true" sz="15565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26715" y="5753100"/>
            <a:ext cx="1222271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ANY QUESTION?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DAHLJr8Eomc</dc:identifier>
  <dcterms:modified xsi:type="dcterms:W3CDTF">2011-08-01T06:04:30Z</dcterms:modified>
  <cp:revision>1</cp:revision>
  <dc:title>Black and Beige Minimalist Fashion Brand Presentation</dc:title>
</cp:coreProperties>
</file>